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8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6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1" r:id="rId1"/>
  </p:sldMasterIdLst>
  <p:notesMasterIdLst>
    <p:notesMasterId r:id="rId5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BC499ADD-3810-4C2D-BAB0-0FF7AB36DDAE}">
  <a:tblStyle styleId="{BC499ADD-3810-4C2D-BAB0-0FF7AB36DDA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-153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Times New Roman"/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7" name="Google Shape;28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8" name="Google Shape;588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514350" y="5349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Заголовок 28"/>
          <p:cNvSpPr>
            <a:spLocks noGrp="1"/>
          </p:cNvSpPr>
          <p:nvPr>
            <p:ph type="ctrTitle"/>
          </p:nvPr>
        </p:nvSpPr>
        <p:spPr>
          <a:xfrm>
            <a:off x="381000" y="4853411"/>
            <a:ext cx="8458200" cy="1222375"/>
          </a:xfrm>
        </p:spPr>
        <p:txBody>
          <a:bodyPr anchor="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16" name="Дата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" name="Нижний колонтитул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Заголовок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7" name="Содержимое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5" name="Дата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>
          <a:xfrm>
            <a:off x="3581400" y="76200"/>
            <a:ext cx="2895600" cy="288925"/>
          </a:xfrm>
        </p:spPr>
        <p:txBody>
          <a:bodyPr/>
          <a:lstStyle/>
          <a:p>
            <a:endParaRPr lang="ru-RU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514350" y="3444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Текст 5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4582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9" name="Дата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ижний колонтитул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180475" y="2947085"/>
            <a:ext cx="86868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1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4" name="Содержимое 13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191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Содержимое 1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1" name="Дата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1" name="Номер слайда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Заголовок 28"/>
          <p:cNvSpPr>
            <a:spLocks noGrp="1"/>
          </p:cNvSpPr>
          <p:nvPr>
            <p:ph type="title"/>
          </p:nvPr>
        </p:nvSpPr>
        <p:spPr>
          <a:xfrm>
            <a:off x="304800" y="5410200"/>
            <a:ext cx="8610600" cy="8826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281444" y="666750"/>
            <a:ext cx="4290556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25" name="Текст 24"/>
          <p:cNvSpPr>
            <a:spLocks noGrp="1"/>
          </p:cNvSpPr>
          <p:nvPr>
            <p:ph type="body" sz="half" idx="3"/>
          </p:nvPr>
        </p:nvSpPr>
        <p:spPr>
          <a:xfrm>
            <a:off x="4645025" y="666750"/>
            <a:ext cx="4292241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quarter" idx="2"/>
          </p:nvPr>
        </p:nvSpPr>
        <p:spPr>
          <a:xfrm>
            <a:off x="281444" y="1316037"/>
            <a:ext cx="429055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8" name="Содержимое 27"/>
          <p:cNvSpPr>
            <a:spLocks noGrp="1"/>
          </p:cNvSpPr>
          <p:nvPr>
            <p:ph sz="quarter" idx="4"/>
          </p:nvPr>
        </p:nvSpPr>
        <p:spPr>
          <a:xfrm>
            <a:off x="4648730" y="1316037"/>
            <a:ext cx="428853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229600" y="6477000"/>
            <a:ext cx="762000" cy="246888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514350" y="6019800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Заголовок 2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2" name="Дата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1" name="Нижний колонтитул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4" name="Нижний колонтитул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514350" y="5849117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Заголовок 11"/>
          <p:cNvSpPr>
            <a:spLocks noGrp="1"/>
          </p:cNvSpPr>
          <p:nvPr>
            <p:ph type="title"/>
          </p:nvPr>
        </p:nvSpPr>
        <p:spPr>
          <a:xfrm>
            <a:off x="457200" y="5486400"/>
            <a:ext cx="8458200" cy="520700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6" name="Текст 25"/>
          <p:cNvSpPr>
            <a:spLocks noGrp="1"/>
          </p:cNvSpPr>
          <p:nvPr>
            <p:ph type="body" idx="2"/>
          </p:nvPr>
        </p:nvSpPr>
        <p:spPr>
          <a:xfrm>
            <a:off x="457200" y="609600"/>
            <a:ext cx="3008313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4" name="Содержимое 13"/>
          <p:cNvSpPr>
            <a:spLocks noGrp="1"/>
          </p:cNvSpPr>
          <p:nvPr>
            <p:ph sz="half" idx="1"/>
          </p:nvPr>
        </p:nvSpPr>
        <p:spPr>
          <a:xfrm>
            <a:off x="3575050" y="609600"/>
            <a:ext cx="5340350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5" name="Дата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9" name="Нижний колонтитул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исунок 12"/>
          <p:cNvSpPr>
            <a:spLocks noGrp="1"/>
          </p:cNvSpPr>
          <p:nvPr>
            <p:ph type="pic" idx="1"/>
          </p:nvPr>
        </p:nvSpPr>
        <p:spPr>
          <a:xfrm>
            <a:off x="3505200" y="616634"/>
            <a:ext cx="50292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1" name="Номер слайда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  <p:sp>
        <p:nvSpPr>
          <p:cNvPr id="17" name="Заголовок 16"/>
          <p:cNvSpPr>
            <a:spLocks noGrp="1"/>
          </p:cNvSpPr>
          <p:nvPr>
            <p:ph type="title"/>
          </p:nvPr>
        </p:nvSpPr>
        <p:spPr>
          <a:xfrm>
            <a:off x="381000" y="4993760"/>
            <a:ext cx="5867400" cy="522288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6" name="Текст 25"/>
          <p:cNvSpPr>
            <a:spLocks noGrp="1"/>
          </p:cNvSpPr>
          <p:nvPr>
            <p:ph type="body" sz="half" idx="2"/>
          </p:nvPr>
        </p:nvSpPr>
        <p:spPr>
          <a:xfrm>
            <a:off x="381000" y="5533218"/>
            <a:ext cx="58674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58000" y="549276"/>
            <a:ext cx="18288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549276"/>
            <a:ext cx="62484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" type="objOnly">
  <p:cSld name="Объект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685800" y="609600"/>
            <a:ext cx="7772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Текст 7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8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1" name="Дата 10"/>
          <p:cNvSpPr>
            <a:spLocks noGrp="1"/>
          </p:cNvSpPr>
          <p:nvPr>
            <p:ph type="dt" sz="half" idx="2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8" name="Нижний колонтитул 27"/>
          <p:cNvSpPr>
            <a:spLocks noGrp="1"/>
          </p:cNvSpPr>
          <p:nvPr>
            <p:ph type="ftr" sz="quarter" idx="3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4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Заголовок 9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Прямая соединительная линия 11"/>
          <p:cNvSpPr>
            <a:spLocks noChangeShapeType="1"/>
          </p:cNvSpPr>
          <p:nvPr/>
        </p:nvSpPr>
        <p:spPr bwMode="auto">
          <a:xfrm>
            <a:off x="514350" y="1057986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 descr="Точечная сетка"/>
          <p:cNvSpPr/>
          <p:nvPr/>
        </p:nvSpPr>
        <p:spPr>
          <a:xfrm>
            <a:off x="228600" y="304800"/>
            <a:ext cx="8610600" cy="6248400"/>
          </a:xfrm>
          <a:prstGeom prst="foldedCorner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rgbClr val="CCEC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468312" y="0"/>
            <a:ext cx="8280400" cy="1449387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l"/>
            <a:r>
              <a:rPr b="0" i="0">
                <a:ln w="9525" cap="flat" cmpd="sng">
                  <a:solidFill>
                    <a:srgbClr val="006699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solidFill>
                  <a:srgbClr val="0000FF"/>
                </a:solidFill>
                <a:latin typeface="Arial"/>
              </a:rPr>
              <a:t>Интерполирование и </a:t>
            </a:r>
          </a:p>
        </p:txBody>
      </p:sp>
      <p:sp>
        <p:nvSpPr>
          <p:cNvPr id="96" name="Google Shape;96;p14"/>
          <p:cNvSpPr/>
          <p:nvPr/>
        </p:nvSpPr>
        <p:spPr>
          <a:xfrm>
            <a:off x="2916237" y="2420937"/>
            <a:ext cx="3617912" cy="130175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l"/>
            <a:r>
              <a:rPr b="0" i="0">
                <a:ln w="9525" cap="flat" cmpd="sng">
                  <a:solidFill>
                    <a:srgbClr val="336699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solidFill>
                  <a:srgbClr val="0099CC"/>
                </a:solidFill>
                <a:latin typeface="Arial"/>
              </a:rPr>
              <a:t>функции </a:t>
            </a:r>
          </a:p>
        </p:txBody>
      </p:sp>
      <p:cxnSp>
        <p:nvCxnSpPr>
          <p:cNvPr id="97" name="Google Shape;97;p14"/>
          <p:cNvCxnSpPr/>
          <p:nvPr/>
        </p:nvCxnSpPr>
        <p:spPr>
          <a:xfrm rot="10800000">
            <a:off x="1763712" y="2997200"/>
            <a:ext cx="0" cy="2447925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8" name="Google Shape;98;p14"/>
          <p:cNvCxnSpPr/>
          <p:nvPr/>
        </p:nvCxnSpPr>
        <p:spPr>
          <a:xfrm>
            <a:off x="1476375" y="5157787"/>
            <a:ext cx="6840537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99" name="Google Shape;99;p14"/>
          <p:cNvSpPr/>
          <p:nvPr/>
        </p:nvSpPr>
        <p:spPr>
          <a:xfrm>
            <a:off x="2268537" y="4365625"/>
            <a:ext cx="71437" cy="71437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3205162" y="3500437"/>
            <a:ext cx="71437" cy="71437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4068762" y="3860800"/>
            <a:ext cx="71437" cy="71437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6300787" y="3933825"/>
            <a:ext cx="71437" cy="71437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4932362" y="5302250"/>
            <a:ext cx="71437" cy="71437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7092950" y="3284537"/>
            <a:ext cx="71437" cy="71437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2268537" y="3284537"/>
            <a:ext cx="4895850" cy="2039937"/>
          </a:xfrm>
          <a:custGeom>
            <a:avLst/>
            <a:gdLst/>
            <a:ahLst/>
            <a:cxnLst/>
            <a:rect l="l" t="t" r="r" b="b"/>
            <a:pathLst>
              <a:path w="3084" h="1285" extrusionOk="0">
                <a:moveTo>
                  <a:pt x="0" y="726"/>
                </a:moveTo>
                <a:cubicBezTo>
                  <a:pt x="200" y="484"/>
                  <a:pt x="400" y="242"/>
                  <a:pt x="589" y="182"/>
                </a:cubicBezTo>
                <a:cubicBezTo>
                  <a:pt x="778" y="122"/>
                  <a:pt x="952" y="182"/>
                  <a:pt x="1133" y="363"/>
                </a:cubicBezTo>
                <a:cubicBezTo>
                  <a:pt x="1314" y="544"/>
                  <a:pt x="1444" y="1255"/>
                  <a:pt x="1678" y="1270"/>
                </a:cubicBezTo>
                <a:cubicBezTo>
                  <a:pt x="1912" y="1285"/>
                  <a:pt x="2306" y="666"/>
                  <a:pt x="2540" y="454"/>
                </a:cubicBezTo>
                <a:cubicBezTo>
                  <a:pt x="2774" y="242"/>
                  <a:pt x="2993" y="76"/>
                  <a:pt x="3084" y="0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468312" y="5300662"/>
            <a:ext cx="7991475" cy="1296987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l"/>
            <a:r>
              <a:rPr b="0" i="0">
                <a:ln w="9525" cap="flat" cmpd="sng">
                  <a:solidFill>
                    <a:srgbClr val="336699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solidFill>
                  <a:srgbClr val="0099CC"/>
                </a:solidFill>
                <a:latin typeface="Arial"/>
              </a:rPr>
              <a:t>Интерполяционный  многочлен Лагранжа </a:t>
            </a:r>
          </a:p>
        </p:txBody>
      </p:sp>
      <p:sp>
        <p:nvSpPr>
          <p:cNvPr id="107" name="Google Shape;107;p14"/>
          <p:cNvSpPr/>
          <p:nvPr/>
        </p:nvSpPr>
        <p:spPr>
          <a:xfrm>
            <a:off x="395287" y="1484312"/>
            <a:ext cx="8280400" cy="1223962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l"/>
            <a:r>
              <a:rPr b="0" i="0">
                <a:ln w="9525" cap="flat" cmpd="sng">
                  <a:solidFill>
                    <a:srgbClr val="006699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solidFill>
                  <a:srgbClr val="0000FF"/>
                </a:solidFill>
                <a:latin typeface="Arial"/>
              </a:rPr>
              <a:t>экстраполирование </a:t>
            </a:r>
          </a:p>
        </p:txBody>
      </p:sp>
      <p:sp>
        <p:nvSpPr>
          <p:cNvPr id="17" name="Номер слайда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20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20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0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0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7000"/>
                            </p:stCondLst>
                            <p:childTnLst>
                              <p:par>
                                <p:cTn id="3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200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200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9000"/>
                            </p:stCondLst>
                            <p:childTnLst>
                              <p:par>
                                <p:cTn id="3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20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20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1000"/>
                            </p:stCondLst>
                            <p:childTnLst>
                              <p:par>
                                <p:cTn id="4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20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20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3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3" name="Google Shape;113;p15"/>
          <p:cNvCxnSpPr/>
          <p:nvPr/>
        </p:nvCxnSpPr>
        <p:spPr>
          <a:xfrm>
            <a:off x="684212" y="620712"/>
            <a:ext cx="8064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14" name="Google Shape;114;p15"/>
          <p:cNvCxnSpPr/>
          <p:nvPr/>
        </p:nvCxnSpPr>
        <p:spPr>
          <a:xfrm>
            <a:off x="1763712" y="333375"/>
            <a:ext cx="0" cy="79216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15" name="Google Shape;115;p15"/>
          <p:cNvCxnSpPr/>
          <p:nvPr/>
        </p:nvCxnSpPr>
        <p:spPr>
          <a:xfrm>
            <a:off x="2987675" y="333375"/>
            <a:ext cx="0" cy="79216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16" name="Google Shape;116;p15"/>
          <p:cNvCxnSpPr/>
          <p:nvPr/>
        </p:nvCxnSpPr>
        <p:spPr>
          <a:xfrm>
            <a:off x="4356100" y="333375"/>
            <a:ext cx="0" cy="79216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17" name="Google Shape;117;p15"/>
          <p:cNvCxnSpPr/>
          <p:nvPr/>
        </p:nvCxnSpPr>
        <p:spPr>
          <a:xfrm>
            <a:off x="5508625" y="333375"/>
            <a:ext cx="0" cy="79216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18" name="Google Shape;118;p15"/>
          <p:cNvCxnSpPr/>
          <p:nvPr/>
        </p:nvCxnSpPr>
        <p:spPr>
          <a:xfrm>
            <a:off x="6659562" y="333375"/>
            <a:ext cx="0" cy="79216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19" name="Google Shape;119;p15"/>
          <p:cNvCxnSpPr/>
          <p:nvPr/>
        </p:nvCxnSpPr>
        <p:spPr>
          <a:xfrm>
            <a:off x="7885112" y="333375"/>
            <a:ext cx="0" cy="79216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20" name="Google Shape;120;p15"/>
          <p:cNvSpPr txBox="1"/>
          <p:nvPr/>
        </p:nvSpPr>
        <p:spPr>
          <a:xfrm>
            <a:off x="323850" y="260350"/>
            <a:ext cx="1584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Температура, </a:t>
            </a:r>
            <a:r>
              <a:rPr lang="en-US" sz="1400" b="0" i="0" u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84212" y="692150"/>
            <a:ext cx="86201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Время суток, ч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2268537" y="765175"/>
            <a:ext cx="288925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3492500" y="765175"/>
            <a:ext cx="360362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4643437" y="765175"/>
            <a:ext cx="504825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5867400" y="765175"/>
            <a:ext cx="576262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7019925" y="765175"/>
            <a:ext cx="504825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8101012" y="836612"/>
            <a:ext cx="574675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2195512" y="223837"/>
            <a:ext cx="360362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3492500" y="260350"/>
            <a:ext cx="360362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4643437" y="260350"/>
            <a:ext cx="576262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5867400" y="223837"/>
            <a:ext cx="504825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7019925" y="260350"/>
            <a:ext cx="576262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8101012" y="260350"/>
            <a:ext cx="360362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grpSp>
        <p:nvGrpSpPr>
          <p:cNvPr id="134" name="Google Shape;134;p15"/>
          <p:cNvGrpSpPr/>
          <p:nvPr/>
        </p:nvGrpSpPr>
        <p:grpSpPr>
          <a:xfrm>
            <a:off x="539750" y="1341437"/>
            <a:ext cx="8280400" cy="5149850"/>
            <a:chOff x="340" y="890"/>
            <a:chExt cx="5216" cy="3244"/>
          </a:xfrm>
        </p:grpSpPr>
        <p:grpSp>
          <p:nvGrpSpPr>
            <p:cNvPr id="135" name="Google Shape;135;p15"/>
            <p:cNvGrpSpPr/>
            <p:nvPr/>
          </p:nvGrpSpPr>
          <p:grpSpPr>
            <a:xfrm>
              <a:off x="612" y="890"/>
              <a:ext cx="4763" cy="3244"/>
              <a:chOff x="612" y="890"/>
              <a:chExt cx="4763" cy="3244"/>
            </a:xfrm>
          </p:grpSpPr>
          <p:cxnSp>
            <p:nvCxnSpPr>
              <p:cNvPr id="136" name="Google Shape;136;p15"/>
              <p:cNvCxnSpPr/>
              <p:nvPr/>
            </p:nvCxnSpPr>
            <p:spPr>
              <a:xfrm rot="10800000">
                <a:off x="612" y="890"/>
                <a:ext cx="0" cy="3130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</p:cxnSp>
          <p:cxnSp>
            <p:nvCxnSpPr>
              <p:cNvPr id="137" name="Google Shape;137;p15"/>
              <p:cNvCxnSpPr/>
              <p:nvPr/>
            </p:nvCxnSpPr>
            <p:spPr>
              <a:xfrm>
                <a:off x="793" y="3748"/>
                <a:ext cx="0" cy="9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38" name="Google Shape;138;p15"/>
              <p:cNvCxnSpPr/>
              <p:nvPr/>
            </p:nvCxnSpPr>
            <p:spPr>
              <a:xfrm>
                <a:off x="975" y="3748"/>
                <a:ext cx="0" cy="9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39" name="Google Shape;139;p15"/>
              <p:cNvCxnSpPr/>
              <p:nvPr/>
            </p:nvCxnSpPr>
            <p:spPr>
              <a:xfrm>
                <a:off x="1156" y="3748"/>
                <a:ext cx="0" cy="9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40" name="Google Shape;140;p15"/>
              <p:cNvCxnSpPr/>
              <p:nvPr/>
            </p:nvCxnSpPr>
            <p:spPr>
              <a:xfrm>
                <a:off x="1338" y="3748"/>
                <a:ext cx="0" cy="9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41" name="Google Shape;141;p15"/>
              <p:cNvCxnSpPr/>
              <p:nvPr/>
            </p:nvCxnSpPr>
            <p:spPr>
              <a:xfrm>
                <a:off x="1519" y="3748"/>
                <a:ext cx="0" cy="9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42" name="Google Shape;142;p15"/>
              <p:cNvCxnSpPr/>
              <p:nvPr/>
            </p:nvCxnSpPr>
            <p:spPr>
              <a:xfrm>
                <a:off x="1701" y="3748"/>
                <a:ext cx="0" cy="9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43" name="Google Shape;143;p15"/>
              <p:cNvCxnSpPr/>
              <p:nvPr/>
            </p:nvCxnSpPr>
            <p:spPr>
              <a:xfrm>
                <a:off x="1882" y="3748"/>
                <a:ext cx="0" cy="9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44" name="Google Shape;144;p15"/>
              <p:cNvCxnSpPr/>
              <p:nvPr/>
            </p:nvCxnSpPr>
            <p:spPr>
              <a:xfrm>
                <a:off x="2063" y="3748"/>
                <a:ext cx="0" cy="9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45" name="Google Shape;145;p15"/>
              <p:cNvCxnSpPr/>
              <p:nvPr/>
            </p:nvCxnSpPr>
            <p:spPr>
              <a:xfrm>
                <a:off x="2245" y="3748"/>
                <a:ext cx="0" cy="9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46" name="Google Shape;146;p15"/>
              <p:cNvCxnSpPr/>
              <p:nvPr/>
            </p:nvCxnSpPr>
            <p:spPr>
              <a:xfrm>
                <a:off x="2426" y="3748"/>
                <a:ext cx="0" cy="9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47" name="Google Shape;147;p15"/>
              <p:cNvCxnSpPr/>
              <p:nvPr/>
            </p:nvCxnSpPr>
            <p:spPr>
              <a:xfrm>
                <a:off x="2608" y="3748"/>
                <a:ext cx="0" cy="9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48" name="Google Shape;148;p15"/>
              <p:cNvCxnSpPr/>
              <p:nvPr/>
            </p:nvCxnSpPr>
            <p:spPr>
              <a:xfrm>
                <a:off x="2789" y="3748"/>
                <a:ext cx="0" cy="9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49" name="Google Shape;149;p15"/>
              <p:cNvCxnSpPr/>
              <p:nvPr/>
            </p:nvCxnSpPr>
            <p:spPr>
              <a:xfrm>
                <a:off x="2971" y="3748"/>
                <a:ext cx="0" cy="9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150" name="Google Shape;150;p15"/>
              <p:cNvSpPr txBox="1"/>
              <p:nvPr/>
            </p:nvSpPr>
            <p:spPr>
              <a:xfrm>
                <a:off x="1428" y="3884"/>
                <a:ext cx="227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Times New Roman"/>
                  <a:buNone/>
                </a:pPr>
                <a:r>
                  <a:rPr lang="en-US" sz="2000" b="0" i="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5</a:t>
                </a:r>
                <a:endParaRPr/>
              </a:p>
            </p:txBody>
          </p:sp>
          <p:sp>
            <p:nvSpPr>
              <p:cNvPr id="151" name="Google Shape;151;p15"/>
              <p:cNvSpPr txBox="1"/>
              <p:nvPr/>
            </p:nvSpPr>
            <p:spPr>
              <a:xfrm>
                <a:off x="2290" y="3884"/>
                <a:ext cx="318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Times New Roman"/>
                  <a:buNone/>
                </a:pPr>
                <a:r>
                  <a:rPr lang="en-US" sz="2000" b="0" i="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10</a:t>
                </a:r>
                <a:endParaRPr/>
              </a:p>
            </p:txBody>
          </p:sp>
          <p:cxnSp>
            <p:nvCxnSpPr>
              <p:cNvPr id="152" name="Google Shape;152;p15"/>
              <p:cNvCxnSpPr/>
              <p:nvPr/>
            </p:nvCxnSpPr>
            <p:spPr>
              <a:xfrm>
                <a:off x="3152" y="3748"/>
                <a:ext cx="0" cy="9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53" name="Google Shape;153;p15"/>
              <p:cNvCxnSpPr/>
              <p:nvPr/>
            </p:nvCxnSpPr>
            <p:spPr>
              <a:xfrm>
                <a:off x="3334" y="3748"/>
                <a:ext cx="0" cy="9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54" name="Google Shape;154;p15"/>
              <p:cNvCxnSpPr/>
              <p:nvPr/>
            </p:nvCxnSpPr>
            <p:spPr>
              <a:xfrm>
                <a:off x="3560" y="3748"/>
                <a:ext cx="0" cy="9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55" name="Google Shape;155;p15"/>
              <p:cNvCxnSpPr/>
              <p:nvPr/>
            </p:nvCxnSpPr>
            <p:spPr>
              <a:xfrm>
                <a:off x="3787" y="3748"/>
                <a:ext cx="0" cy="9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56" name="Google Shape;156;p15"/>
              <p:cNvCxnSpPr/>
              <p:nvPr/>
            </p:nvCxnSpPr>
            <p:spPr>
              <a:xfrm>
                <a:off x="4014" y="3748"/>
                <a:ext cx="0" cy="9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57" name="Google Shape;157;p15"/>
              <p:cNvCxnSpPr/>
              <p:nvPr/>
            </p:nvCxnSpPr>
            <p:spPr>
              <a:xfrm>
                <a:off x="4241" y="3748"/>
                <a:ext cx="0" cy="9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58" name="Google Shape;158;p15"/>
              <p:cNvCxnSpPr/>
              <p:nvPr/>
            </p:nvCxnSpPr>
            <p:spPr>
              <a:xfrm>
                <a:off x="4468" y="3748"/>
                <a:ext cx="0" cy="9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159" name="Google Shape;159;p15"/>
              <p:cNvSpPr txBox="1"/>
              <p:nvPr/>
            </p:nvSpPr>
            <p:spPr>
              <a:xfrm>
                <a:off x="3197" y="3884"/>
                <a:ext cx="318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Times New Roman"/>
                  <a:buNone/>
                </a:pPr>
                <a:r>
                  <a:rPr lang="en-US" sz="2000" b="0" i="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15</a:t>
                </a:r>
                <a:endParaRPr/>
              </a:p>
            </p:txBody>
          </p:sp>
          <p:sp>
            <p:nvSpPr>
              <p:cNvPr id="160" name="Google Shape;160;p15"/>
              <p:cNvSpPr txBox="1"/>
              <p:nvPr/>
            </p:nvSpPr>
            <p:spPr>
              <a:xfrm>
                <a:off x="4331" y="3884"/>
                <a:ext cx="318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Times New Roman"/>
                  <a:buNone/>
                </a:pPr>
                <a:r>
                  <a:rPr lang="en-US" sz="2000" b="0" i="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20</a:t>
                </a:r>
                <a:endParaRPr/>
              </a:p>
            </p:txBody>
          </p:sp>
          <p:cxnSp>
            <p:nvCxnSpPr>
              <p:cNvPr id="161" name="Google Shape;161;p15"/>
              <p:cNvCxnSpPr/>
              <p:nvPr/>
            </p:nvCxnSpPr>
            <p:spPr>
              <a:xfrm>
                <a:off x="4694" y="3748"/>
                <a:ext cx="0" cy="9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62" name="Google Shape;162;p15"/>
              <p:cNvCxnSpPr/>
              <p:nvPr/>
            </p:nvCxnSpPr>
            <p:spPr>
              <a:xfrm>
                <a:off x="4921" y="3748"/>
                <a:ext cx="0" cy="9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63" name="Google Shape;163;p15"/>
              <p:cNvCxnSpPr/>
              <p:nvPr/>
            </p:nvCxnSpPr>
            <p:spPr>
              <a:xfrm>
                <a:off x="5148" y="3748"/>
                <a:ext cx="0" cy="9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64" name="Google Shape;164;p15"/>
              <p:cNvCxnSpPr/>
              <p:nvPr/>
            </p:nvCxnSpPr>
            <p:spPr>
              <a:xfrm>
                <a:off x="5375" y="3748"/>
                <a:ext cx="0" cy="9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  <p:grpSp>
          <p:nvGrpSpPr>
            <p:cNvPr id="165" name="Google Shape;165;p15"/>
            <p:cNvGrpSpPr/>
            <p:nvPr/>
          </p:nvGrpSpPr>
          <p:grpSpPr>
            <a:xfrm>
              <a:off x="340" y="935"/>
              <a:ext cx="5216" cy="3085"/>
              <a:chOff x="340" y="935"/>
              <a:chExt cx="5216" cy="3085"/>
            </a:xfrm>
          </p:grpSpPr>
          <p:grpSp>
            <p:nvGrpSpPr>
              <p:cNvPr id="166" name="Google Shape;166;p15"/>
              <p:cNvGrpSpPr/>
              <p:nvPr/>
            </p:nvGrpSpPr>
            <p:grpSpPr>
              <a:xfrm>
                <a:off x="340" y="935"/>
                <a:ext cx="5216" cy="2858"/>
                <a:chOff x="340" y="935"/>
                <a:chExt cx="5216" cy="2858"/>
              </a:xfrm>
            </p:grpSpPr>
            <p:grpSp>
              <p:nvGrpSpPr>
                <p:cNvPr id="167" name="Google Shape;167;p15"/>
                <p:cNvGrpSpPr/>
                <p:nvPr/>
              </p:nvGrpSpPr>
              <p:grpSpPr>
                <a:xfrm>
                  <a:off x="385" y="1071"/>
                  <a:ext cx="5171" cy="2722"/>
                  <a:chOff x="385" y="1071"/>
                  <a:chExt cx="5171" cy="2722"/>
                </a:xfrm>
              </p:grpSpPr>
              <p:cxnSp>
                <p:nvCxnSpPr>
                  <p:cNvPr id="168" name="Google Shape;168;p15"/>
                  <p:cNvCxnSpPr/>
                  <p:nvPr/>
                </p:nvCxnSpPr>
                <p:spPr>
                  <a:xfrm>
                    <a:off x="385" y="3793"/>
                    <a:ext cx="5171" cy="0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dk1"/>
                    </a:solidFill>
                    <a:prstDash val="solid"/>
                    <a:miter lim="800000"/>
                    <a:headEnd type="none" w="med" len="med"/>
                    <a:tailEnd type="triangle" w="med" len="med"/>
                  </a:ln>
                </p:spPr>
              </p:cxnSp>
              <p:cxnSp>
                <p:nvCxnSpPr>
                  <p:cNvPr id="169" name="Google Shape;169;p15"/>
                  <p:cNvCxnSpPr/>
                  <p:nvPr/>
                </p:nvCxnSpPr>
                <p:spPr>
                  <a:xfrm rot="10800000" flipH="1">
                    <a:off x="567" y="3612"/>
                    <a:ext cx="90" cy="1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70" name="Google Shape;170;p15"/>
                  <p:cNvCxnSpPr/>
                  <p:nvPr/>
                </p:nvCxnSpPr>
                <p:spPr>
                  <a:xfrm rot="10800000" flipH="1">
                    <a:off x="567" y="3430"/>
                    <a:ext cx="90" cy="1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71" name="Google Shape;171;p15"/>
                  <p:cNvCxnSpPr/>
                  <p:nvPr/>
                </p:nvCxnSpPr>
                <p:spPr>
                  <a:xfrm rot="10800000" flipH="1">
                    <a:off x="567" y="3249"/>
                    <a:ext cx="90" cy="1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72" name="Google Shape;172;p15"/>
                  <p:cNvCxnSpPr/>
                  <p:nvPr/>
                </p:nvCxnSpPr>
                <p:spPr>
                  <a:xfrm rot="10800000" flipH="1">
                    <a:off x="567" y="3067"/>
                    <a:ext cx="90" cy="1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73" name="Google Shape;173;p15"/>
                  <p:cNvCxnSpPr/>
                  <p:nvPr/>
                </p:nvCxnSpPr>
                <p:spPr>
                  <a:xfrm rot="10800000" flipH="1">
                    <a:off x="567" y="2886"/>
                    <a:ext cx="90" cy="1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74" name="Google Shape;174;p15"/>
                  <p:cNvCxnSpPr/>
                  <p:nvPr/>
                </p:nvCxnSpPr>
                <p:spPr>
                  <a:xfrm rot="10800000" flipH="1">
                    <a:off x="567" y="2704"/>
                    <a:ext cx="90" cy="1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75" name="Google Shape;175;p15"/>
                  <p:cNvCxnSpPr/>
                  <p:nvPr/>
                </p:nvCxnSpPr>
                <p:spPr>
                  <a:xfrm rot="10800000" flipH="1">
                    <a:off x="567" y="2522"/>
                    <a:ext cx="90" cy="1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76" name="Google Shape;176;p15"/>
                  <p:cNvCxnSpPr/>
                  <p:nvPr/>
                </p:nvCxnSpPr>
                <p:spPr>
                  <a:xfrm rot="10800000" flipH="1">
                    <a:off x="567" y="2341"/>
                    <a:ext cx="90" cy="1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77" name="Google Shape;177;p15"/>
                  <p:cNvCxnSpPr/>
                  <p:nvPr/>
                </p:nvCxnSpPr>
                <p:spPr>
                  <a:xfrm rot="10800000" flipH="1">
                    <a:off x="567" y="2160"/>
                    <a:ext cx="90" cy="1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78" name="Google Shape;178;p15"/>
                  <p:cNvCxnSpPr/>
                  <p:nvPr/>
                </p:nvCxnSpPr>
                <p:spPr>
                  <a:xfrm rot="10800000" flipH="1">
                    <a:off x="567" y="1979"/>
                    <a:ext cx="90" cy="1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79" name="Google Shape;179;p15"/>
                  <p:cNvCxnSpPr/>
                  <p:nvPr/>
                </p:nvCxnSpPr>
                <p:spPr>
                  <a:xfrm rot="10800000" flipH="1">
                    <a:off x="567" y="1797"/>
                    <a:ext cx="90" cy="1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80" name="Google Shape;180;p15"/>
                  <p:cNvCxnSpPr/>
                  <p:nvPr/>
                </p:nvCxnSpPr>
                <p:spPr>
                  <a:xfrm rot="10800000" flipH="1">
                    <a:off x="567" y="1615"/>
                    <a:ext cx="90" cy="1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81" name="Google Shape;181;p15"/>
                  <p:cNvCxnSpPr/>
                  <p:nvPr/>
                </p:nvCxnSpPr>
                <p:spPr>
                  <a:xfrm rot="10800000" flipH="1">
                    <a:off x="567" y="1433"/>
                    <a:ext cx="90" cy="1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82" name="Google Shape;182;p15"/>
                  <p:cNvCxnSpPr/>
                  <p:nvPr/>
                </p:nvCxnSpPr>
                <p:spPr>
                  <a:xfrm rot="10800000" flipH="1">
                    <a:off x="567" y="1253"/>
                    <a:ext cx="90" cy="1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83" name="Google Shape;183;p15"/>
                  <p:cNvCxnSpPr/>
                  <p:nvPr/>
                </p:nvCxnSpPr>
                <p:spPr>
                  <a:xfrm rot="10800000" flipH="1">
                    <a:off x="567" y="1071"/>
                    <a:ext cx="90" cy="1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</p:cxnSp>
            </p:grpSp>
            <p:sp>
              <p:nvSpPr>
                <p:cNvPr id="184" name="Google Shape;184;p15"/>
                <p:cNvSpPr txBox="1"/>
                <p:nvPr/>
              </p:nvSpPr>
              <p:spPr>
                <a:xfrm>
                  <a:off x="384" y="2750"/>
                  <a:ext cx="273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Times New Roman"/>
                    <a:buNone/>
                  </a:pPr>
                  <a:r>
                    <a:rPr lang="en-US" sz="2000" b="0" i="0" u="non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5</a:t>
                  </a:r>
                  <a:endParaRPr/>
                </a:p>
              </p:txBody>
            </p:sp>
            <p:sp>
              <p:nvSpPr>
                <p:cNvPr id="185" name="Google Shape;185;p15"/>
                <p:cNvSpPr txBox="1"/>
                <p:nvPr/>
              </p:nvSpPr>
              <p:spPr>
                <a:xfrm>
                  <a:off x="340" y="1842"/>
                  <a:ext cx="317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Times New Roman"/>
                    <a:buNone/>
                  </a:pPr>
                  <a:r>
                    <a:rPr lang="en-US" sz="2000" b="0" i="0" u="non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10</a:t>
                  </a:r>
                  <a:endParaRPr/>
                </a:p>
              </p:txBody>
            </p:sp>
            <p:sp>
              <p:nvSpPr>
                <p:cNvPr id="186" name="Google Shape;186;p15"/>
                <p:cNvSpPr txBox="1"/>
                <p:nvPr/>
              </p:nvSpPr>
              <p:spPr>
                <a:xfrm>
                  <a:off x="340" y="935"/>
                  <a:ext cx="317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Times New Roman"/>
                    <a:buNone/>
                  </a:pPr>
                  <a:r>
                    <a:rPr lang="en-US" sz="2000" b="0" i="0" u="non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15</a:t>
                  </a:r>
                  <a:endParaRPr/>
                </a:p>
              </p:txBody>
            </p:sp>
          </p:grpSp>
          <p:sp>
            <p:nvSpPr>
              <p:cNvPr id="187" name="Google Shape;187;p15"/>
              <p:cNvSpPr txBox="1"/>
              <p:nvPr/>
            </p:nvSpPr>
            <p:spPr>
              <a:xfrm>
                <a:off x="431" y="3770"/>
                <a:ext cx="226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Times New Roman"/>
                  <a:buNone/>
                </a:pPr>
                <a:r>
                  <a:rPr lang="en-US" sz="2000" b="0" i="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</a:t>
                </a:r>
                <a:endParaRPr/>
              </a:p>
            </p:txBody>
          </p:sp>
        </p:grpSp>
      </p:grpSp>
      <p:sp>
        <p:nvSpPr>
          <p:cNvPr id="188" name="Google Shape;188;p15"/>
          <p:cNvSpPr/>
          <p:nvPr/>
        </p:nvSpPr>
        <p:spPr>
          <a:xfrm>
            <a:off x="900112" y="4365625"/>
            <a:ext cx="144462" cy="144462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15"/>
          <p:cNvSpPr/>
          <p:nvPr/>
        </p:nvSpPr>
        <p:spPr>
          <a:xfrm>
            <a:off x="2339975" y="3933825"/>
            <a:ext cx="144462" cy="144462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p15"/>
          <p:cNvSpPr/>
          <p:nvPr/>
        </p:nvSpPr>
        <p:spPr>
          <a:xfrm>
            <a:off x="3779837" y="2205037"/>
            <a:ext cx="144462" cy="144462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15"/>
          <p:cNvSpPr/>
          <p:nvPr/>
        </p:nvSpPr>
        <p:spPr>
          <a:xfrm>
            <a:off x="5219700" y="1628775"/>
            <a:ext cx="144462" cy="144462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p15"/>
          <p:cNvSpPr/>
          <p:nvPr/>
        </p:nvSpPr>
        <p:spPr>
          <a:xfrm>
            <a:off x="7019925" y="3068637"/>
            <a:ext cx="144462" cy="144462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15"/>
          <p:cNvSpPr/>
          <p:nvPr/>
        </p:nvSpPr>
        <p:spPr>
          <a:xfrm>
            <a:off x="8459787" y="5084762"/>
            <a:ext cx="144462" cy="144462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94" name="Google Shape;194;p15"/>
          <p:cNvCxnSpPr/>
          <p:nvPr/>
        </p:nvCxnSpPr>
        <p:spPr>
          <a:xfrm rot="10800000" flipH="1">
            <a:off x="971550" y="4005262"/>
            <a:ext cx="1439862" cy="431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95" name="Google Shape;195;p15"/>
          <p:cNvCxnSpPr/>
          <p:nvPr/>
        </p:nvCxnSpPr>
        <p:spPr>
          <a:xfrm rot="10800000" flipH="1">
            <a:off x="2411412" y="2276475"/>
            <a:ext cx="1439862" cy="172878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96" name="Google Shape;196;p15"/>
          <p:cNvCxnSpPr/>
          <p:nvPr/>
        </p:nvCxnSpPr>
        <p:spPr>
          <a:xfrm rot="10800000" flipH="1">
            <a:off x="3851275" y="1700212"/>
            <a:ext cx="1441450" cy="57626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97" name="Google Shape;197;p15"/>
          <p:cNvCxnSpPr/>
          <p:nvPr/>
        </p:nvCxnSpPr>
        <p:spPr>
          <a:xfrm>
            <a:off x="5292725" y="1700212"/>
            <a:ext cx="1800225" cy="144145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98" name="Google Shape;198;p15"/>
          <p:cNvCxnSpPr/>
          <p:nvPr/>
        </p:nvCxnSpPr>
        <p:spPr>
          <a:xfrm>
            <a:off x="7092950" y="3141662"/>
            <a:ext cx="1439862" cy="201612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99" name="Google Shape;199;p15"/>
          <p:cNvSpPr txBox="1"/>
          <p:nvPr/>
        </p:nvSpPr>
        <p:spPr>
          <a:xfrm>
            <a:off x="6516687" y="1341437"/>
            <a:ext cx="2303462" cy="1006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Чему была равна температура в 12 часов????</a:t>
            </a:r>
            <a:endParaRPr/>
          </a:p>
        </p:txBody>
      </p:sp>
      <p:sp>
        <p:nvSpPr>
          <p:cNvPr id="200" name="Google Shape;200;p15"/>
          <p:cNvSpPr/>
          <p:nvPr/>
        </p:nvSpPr>
        <p:spPr>
          <a:xfrm>
            <a:off x="4284662" y="5876925"/>
            <a:ext cx="215900" cy="2159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01" name="Google Shape;201;p15"/>
          <p:cNvCxnSpPr/>
          <p:nvPr/>
        </p:nvCxnSpPr>
        <p:spPr>
          <a:xfrm rot="10800000">
            <a:off x="4427537" y="2060575"/>
            <a:ext cx="0" cy="3671887"/>
          </a:xfrm>
          <a:prstGeom prst="straightConnector1">
            <a:avLst/>
          </a:prstGeom>
          <a:noFill/>
          <a:ln w="9525" cap="flat" cmpd="sng">
            <a:solidFill>
              <a:srgbClr val="00FFFF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cxnSp>
        <p:nvCxnSpPr>
          <p:cNvPr id="202" name="Google Shape;202;p15"/>
          <p:cNvCxnSpPr/>
          <p:nvPr/>
        </p:nvCxnSpPr>
        <p:spPr>
          <a:xfrm rot="10800000">
            <a:off x="971550" y="2060575"/>
            <a:ext cx="3455987" cy="0"/>
          </a:xfrm>
          <a:prstGeom prst="straightConnector1">
            <a:avLst/>
          </a:prstGeom>
          <a:noFill/>
          <a:ln w="9525" cap="flat" cmpd="sng">
            <a:solidFill>
              <a:srgbClr val="00FFFF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cxnSp>
        <p:nvCxnSpPr>
          <p:cNvPr id="203" name="Google Shape;203;p15"/>
          <p:cNvCxnSpPr/>
          <p:nvPr/>
        </p:nvCxnSpPr>
        <p:spPr>
          <a:xfrm rot="10800000">
            <a:off x="4427537" y="1844675"/>
            <a:ext cx="0" cy="381635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04" name="Google Shape;204;p15"/>
          <p:cNvCxnSpPr/>
          <p:nvPr/>
        </p:nvCxnSpPr>
        <p:spPr>
          <a:xfrm rot="10800000">
            <a:off x="900112" y="1844675"/>
            <a:ext cx="3455987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205" name="Google Shape;205;p15"/>
          <p:cNvSpPr/>
          <p:nvPr/>
        </p:nvSpPr>
        <p:spPr>
          <a:xfrm>
            <a:off x="971550" y="1555750"/>
            <a:ext cx="7561262" cy="3602037"/>
          </a:xfrm>
          <a:custGeom>
            <a:avLst/>
            <a:gdLst/>
            <a:ahLst/>
            <a:cxnLst/>
            <a:rect l="l" t="t" r="r" b="b"/>
            <a:pathLst>
              <a:path w="4763" h="2269" extrusionOk="0">
                <a:moveTo>
                  <a:pt x="0" y="1815"/>
                </a:moveTo>
                <a:cubicBezTo>
                  <a:pt x="302" y="1792"/>
                  <a:pt x="605" y="1770"/>
                  <a:pt x="907" y="1543"/>
                </a:cubicBezTo>
                <a:cubicBezTo>
                  <a:pt x="1209" y="1316"/>
                  <a:pt x="1512" y="696"/>
                  <a:pt x="1814" y="454"/>
                </a:cubicBezTo>
                <a:cubicBezTo>
                  <a:pt x="2116" y="212"/>
                  <a:pt x="2382" y="0"/>
                  <a:pt x="2722" y="91"/>
                </a:cubicBezTo>
                <a:cubicBezTo>
                  <a:pt x="3062" y="182"/>
                  <a:pt x="3516" y="636"/>
                  <a:pt x="3856" y="999"/>
                </a:cubicBezTo>
                <a:cubicBezTo>
                  <a:pt x="4196" y="1362"/>
                  <a:pt x="4612" y="2065"/>
                  <a:pt x="4763" y="2269"/>
                </a:cubicBezTo>
              </a:path>
            </a:pathLst>
          </a:custGeom>
          <a:noFill/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Номер слайда 9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7000"/>
                            </p:stCondLst>
                            <p:childTnLst>
                              <p:par>
                                <p:cTn id="5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8000"/>
                            </p:stCondLst>
                            <p:childTnLst>
                              <p:par>
                                <p:cTn id="6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9000"/>
                            </p:stCondLst>
                            <p:childTnLst>
                              <p:par>
                                <p:cTn id="6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0"/>
                            </p:stCondLst>
                            <p:childTnLst>
                              <p:par>
                                <p:cTn id="6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000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1000"/>
                            </p:stCondLst>
                            <p:childTnLst>
                              <p:par>
                                <p:cTn id="7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000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2000"/>
                            </p:stCondLst>
                            <p:childTnLst>
                              <p:par>
                                <p:cTn id="7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3000"/>
                            </p:stCondLst>
                            <p:childTnLst>
                              <p:par>
                                <p:cTn id="8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0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5000"/>
                            </p:stCondLst>
                            <p:childTnLst>
                              <p:par>
                                <p:cTn id="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0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7000"/>
                            </p:stCondLst>
                            <p:childTnLst>
                              <p:par>
                                <p:cTn id="8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20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9000"/>
                            </p:stCondLst>
                            <p:childTnLst>
                              <p:par>
                                <p:cTn id="9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20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1000"/>
                            </p:stCondLst>
                            <p:childTnLst>
                              <p:par>
                                <p:cTn id="9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1500"/>
                            </p:stCondLst>
                            <p:childTnLst>
                              <p:par>
                                <p:cTn id="10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24500"/>
                            </p:stCondLst>
                            <p:childTnLst>
                              <p:par>
                                <p:cTn id="10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0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26500"/>
                            </p:stCondLst>
                            <p:childTnLst>
                              <p:par>
                                <p:cTn id="10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20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20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20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6"/>
          <p:cNvSpPr txBox="1"/>
          <p:nvPr/>
        </p:nvSpPr>
        <p:spPr>
          <a:xfrm>
            <a:off x="0" y="214312"/>
            <a:ext cx="8929687" cy="575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946A"/>
              </a:buClr>
              <a:buSzPts val="2400"/>
              <a:buFont typeface="Times New Roman"/>
              <a:buNone/>
            </a:pPr>
            <a:r>
              <a:rPr lang="en-US" sz="2400" b="1" i="1" u="sng">
                <a:solidFill>
                  <a:srgbClr val="3294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Основные виды интерполяции, экстраполяция и аппроксимация</a:t>
            </a:r>
            <a:endParaRPr sz="2400" b="0" i="0" u="sng">
              <a:solidFill>
                <a:srgbClr val="3294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27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imes New Roman"/>
              <a:buChar char="•"/>
            </a:pPr>
            <a:r>
              <a:rPr lang="en-US" sz="2000" b="0" i="1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линейная интерполяция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при которой промежуточные точки, расположенные  между двумя узловыми точками (</a:t>
            </a:r>
            <a:r>
              <a:rPr lang="en-US" sz="20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0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0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 y</a:t>
            </a:r>
            <a:r>
              <a:rPr lang="en-US" sz="20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и (</a:t>
            </a:r>
            <a:r>
              <a:rPr lang="en-US" sz="20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0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i+1</a:t>
            </a:r>
            <a:r>
              <a:rPr lang="en-US" sz="20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 y</a:t>
            </a:r>
            <a:r>
              <a:rPr lang="en-US" sz="20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i+1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 лежат на отрезке прямой, соединяющей две ближайшие узловые точки;   </a:t>
            </a:r>
            <a:endParaRPr/>
          </a:p>
          <a:p>
            <a:pPr marL="0" marR="0" lvl="0" indent="-127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imes New Roman"/>
              <a:buChar char="•"/>
            </a:pPr>
            <a:r>
              <a:rPr lang="en-US" sz="2000" b="0" i="1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квадратичная интерполяция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при которой промежуточные точки между узловыми точками (</a:t>
            </a:r>
            <a:r>
              <a:rPr lang="en-US" sz="20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0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0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 y</a:t>
            </a:r>
            <a:r>
              <a:rPr lang="en-US" sz="20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 (</a:t>
            </a:r>
            <a:r>
              <a:rPr lang="en-US" sz="20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0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i+1</a:t>
            </a:r>
            <a:r>
              <a:rPr lang="en-US" sz="20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 y</a:t>
            </a:r>
            <a:r>
              <a:rPr lang="en-US" sz="20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i+1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и (</a:t>
            </a:r>
            <a:r>
              <a:rPr lang="en-US" sz="20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0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i+2</a:t>
            </a:r>
            <a:r>
              <a:rPr lang="en-US" sz="20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 y</a:t>
            </a:r>
            <a:r>
              <a:rPr lang="en-US" sz="20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i+2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лежат на отрезке параболы, соединяющей эти узловые точки;</a:t>
            </a:r>
            <a:endParaRPr/>
          </a:p>
          <a:p>
            <a:pPr marL="0" marR="0" lvl="0" indent="-127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imes New Roman"/>
              <a:buChar char="•"/>
            </a:pPr>
            <a:r>
              <a:rPr lang="en-US" sz="2000" b="0" i="1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полиномиальная интерполяция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при которой промежуточные точки вычисляются как значение некоторого многочлена </a:t>
            </a:r>
            <a:r>
              <a:rPr lang="en-US" sz="20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20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0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(x)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имеющего значения в узловых точках точно совпадающие с </a:t>
            </a:r>
            <a:r>
              <a:rPr lang="en-US" sz="20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2000" b="0" i="1" u="none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0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000" b="0" i="1" u="none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 sz="2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27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imes New Roman"/>
              <a:buChar char="•"/>
            </a:pPr>
            <a:r>
              <a:rPr lang="en-US" sz="2000" b="0" i="0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Сплайновая интерполяция</a:t>
            </a: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при которой промежуточные точки находятся с помощью отрезков полиномов невысокой степени, проходящих через узловые точки и поддерживающие определенные условия стыковки в концевых точках.</a:t>
            </a:r>
            <a:endParaRPr/>
          </a:p>
          <a:p>
            <a:pPr marL="0" marR="0" lvl="0" indent="-127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imes New Roman"/>
              <a:buChar char="•"/>
            </a:pPr>
            <a:r>
              <a:rPr lang="en-US" sz="2000" b="0" i="1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экстраполяция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— вычисление функции вне того интервала, на котором она задана в виде таблицы, графически или иным способом.</a:t>
            </a:r>
            <a:endParaRPr/>
          </a:p>
          <a:p>
            <a:pPr marL="0" marR="0" lvl="0" indent="-127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imes New Roman"/>
              <a:buChar char="•"/>
            </a:pPr>
            <a:r>
              <a:rPr lang="en-US" sz="2000" b="0" i="1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аппроксимация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таблично заданная функция заменяется другой функцией, как правило, более простой и поэтому более быстро вычисляемой. </a:t>
            </a:r>
            <a:endParaRPr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7"/>
          <p:cNvSpPr txBox="1"/>
          <p:nvPr/>
        </p:nvSpPr>
        <p:spPr>
          <a:xfrm>
            <a:off x="914400" y="620712"/>
            <a:ext cx="7662441" cy="2105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3810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Пусть</a:t>
            </a: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</a:t>
            </a: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отрезке</a:t>
            </a: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[а, b] </a:t>
            </a:r>
            <a:r>
              <a:rPr lang="en-US" sz="24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задана</a:t>
            </a: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функция</a:t>
            </a: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 = f(x</a:t>
            </a: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endParaRPr dirty="0"/>
          </a:p>
          <a:p>
            <a:pPr marL="0" marR="0" lvl="0" indent="3810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3600" b="1" i="1" u="none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3600" b="1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f(x</a:t>
            </a:r>
            <a:r>
              <a:rPr lang="en-US" sz="3600" b="1" i="1" u="none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36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3600" b="1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у</a:t>
            </a:r>
            <a:r>
              <a:rPr lang="en-US" sz="3600" b="1" i="1" u="none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3600" b="1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f(x</a:t>
            </a:r>
            <a:r>
              <a:rPr lang="en-US" sz="3600" b="1" i="1" u="none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36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</a:t>
            </a:r>
            <a:r>
              <a:rPr lang="en-US" sz="3600" b="1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…, </a:t>
            </a:r>
            <a:r>
              <a:rPr lang="en-US" sz="3600" b="1" i="1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</a:t>
            </a:r>
            <a:r>
              <a:rPr lang="en-US" sz="3600" b="1" i="1" u="none" baseline="-25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600" b="1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f(</a:t>
            </a:r>
            <a:r>
              <a:rPr lang="en-US" sz="3600" b="1" i="1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3600" b="1" i="1" u="none" baseline="-25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6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dirty="0"/>
          </a:p>
          <a:p>
            <a:pPr marL="0" marR="0" lvl="0" indent="3810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endParaRPr sz="1100" b="1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3810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х</a:t>
            </a:r>
            <a:r>
              <a:rPr lang="en-US" sz="3600" b="1" i="1" u="none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3600" b="1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х</a:t>
            </a:r>
            <a:r>
              <a:rPr lang="en-US" sz="3600" b="1" i="1" u="none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3600" b="1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,..., </a:t>
            </a:r>
            <a:r>
              <a:rPr lang="en-US" sz="3600" b="1" i="1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х</a:t>
            </a:r>
            <a:r>
              <a:rPr lang="en-US" sz="3600" b="1" i="1" u="none" baseline="-25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 </a:t>
            </a:r>
            <a:r>
              <a:rPr lang="en-US" sz="3600" b="1" i="1" u="none" dirty="0" err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узлы</a:t>
            </a:r>
            <a:r>
              <a:rPr lang="en-US" sz="3600" b="1" i="1" u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b="1" i="1" u="none" dirty="0" err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интерполяции</a:t>
            </a:r>
            <a:endParaRPr dirty="0"/>
          </a:p>
        </p:txBody>
      </p:sp>
      <p:sp>
        <p:nvSpPr>
          <p:cNvPr id="218" name="Google Shape;218;p17"/>
          <p:cNvSpPr txBox="1"/>
          <p:nvPr/>
        </p:nvSpPr>
        <p:spPr>
          <a:xfrm>
            <a:off x="0" y="0"/>
            <a:ext cx="9175750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800"/>
              <a:buFont typeface="Times New Roman"/>
              <a:buNone/>
            </a:pPr>
            <a:r>
              <a:rPr lang="en-US" sz="2800" b="1" i="1" u="none" dirty="0" err="1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Математическая</a:t>
            </a:r>
            <a:r>
              <a:rPr lang="en-US" sz="2800" b="1" i="1" u="none" dirty="0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1" i="1" u="none" dirty="0" err="1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постановка</a:t>
            </a:r>
            <a:r>
              <a:rPr lang="en-US" sz="2800" b="1" i="1" u="none" dirty="0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1" i="1" u="none" dirty="0" err="1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задач</a:t>
            </a:r>
            <a:r>
              <a:rPr lang="en-US" sz="2800" b="1" i="1" u="none" dirty="0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1" i="1" u="none" dirty="0" err="1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интерполирования</a:t>
            </a:r>
            <a:r>
              <a:rPr lang="en-US" sz="2800" b="0" i="0" u="none" dirty="0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</p:txBody>
      </p:sp>
      <p:cxnSp>
        <p:nvCxnSpPr>
          <p:cNvPr id="219" name="Google Shape;219;p17"/>
          <p:cNvCxnSpPr/>
          <p:nvPr/>
        </p:nvCxnSpPr>
        <p:spPr>
          <a:xfrm>
            <a:off x="0" y="549275"/>
            <a:ext cx="8964612" cy="0"/>
          </a:xfrm>
          <a:prstGeom prst="straightConnector1">
            <a:avLst/>
          </a:prstGeom>
          <a:noFill/>
          <a:ln w="50800" cap="flat" cmpd="sng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20" name="Google Shape;220;p17"/>
          <p:cNvSpPr txBox="1"/>
          <p:nvPr/>
        </p:nvSpPr>
        <p:spPr>
          <a:xfrm>
            <a:off x="0" y="2852737"/>
            <a:ext cx="6948487" cy="1006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F(х) -</a:t>
            </a:r>
            <a:r>
              <a:rPr lang="en-US" sz="12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b="1" i="1" u="none" dirty="0" err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табулированная</a:t>
            </a:r>
            <a:r>
              <a:rPr lang="en-US" sz="3600" b="1" i="1" u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b="1" i="1" u="none" dirty="0" err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функция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1" i="1" u="none" dirty="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21" name="Google Shape;221;p17"/>
          <p:cNvGraphicFramePr/>
          <p:nvPr/>
        </p:nvGraphicFramePr>
        <p:xfrm>
          <a:off x="2268537" y="3429000"/>
          <a:ext cx="4679925" cy="2012325"/>
        </p:xfrm>
        <a:graphic>
          <a:graphicData uri="http://schemas.openxmlformats.org/drawingml/2006/table">
            <a:tbl>
              <a:tblPr>
                <a:noFill/>
                <a:tableStyleId>{BC499ADD-3810-4C2D-BAB0-0FF7AB36DDAE}</a:tableStyleId>
              </a:tblPr>
              <a:tblGrid>
                <a:gridCol w="1138225"/>
                <a:gridCol w="1139825"/>
                <a:gridCol w="1263650"/>
                <a:gridCol w="1138225"/>
              </a:tblGrid>
              <a:tr h="1006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0"/>
                        <a:buFont typeface="Times New Roman"/>
                        <a:buNone/>
                      </a:pPr>
                      <a:r>
                        <a:rPr lang="en-US" sz="6000" b="1" i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US" sz="6000" b="1" i="1" u="none" strike="noStrike" cap="none" baseline="-25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0"/>
                        <a:buFont typeface="Times New Roman"/>
                        <a:buNone/>
                      </a:pPr>
                      <a:r>
                        <a:rPr lang="en-US" sz="6000" b="1" i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у</a:t>
                      </a:r>
                      <a:r>
                        <a:rPr lang="en-US" sz="6000" b="1" i="1" u="none" strike="noStrike" cap="none" baseline="-25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0"/>
                        <a:buFont typeface="Times New Roman"/>
                        <a:buNone/>
                      </a:pPr>
                      <a:r>
                        <a:rPr lang="en-US" sz="6000" b="1" i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0"/>
                        <a:buFont typeface="Times New Roman"/>
                        <a:buNone/>
                      </a:pPr>
                      <a:r>
                        <a:rPr lang="en-US" sz="6000" b="1" i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у</a:t>
                      </a:r>
                      <a:r>
                        <a:rPr lang="en-US" sz="6000" b="1" i="1" u="none" strike="noStrike" cap="none" baseline="-25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004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0"/>
                        <a:buFont typeface="Times New Roman"/>
                        <a:buNone/>
                      </a:pPr>
                      <a:r>
                        <a:rPr lang="en-US" sz="6000" b="1" i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US" sz="6000" b="1" i="1" u="none" strike="noStrike" cap="none" baseline="-25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0"/>
                        <a:buFont typeface="Times New Roman"/>
                        <a:buNone/>
                      </a:pPr>
                      <a:r>
                        <a:rPr lang="en-US" sz="6000" b="1" i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US" sz="6000" b="1" i="1" u="none" strike="noStrike" cap="none" baseline="-25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0"/>
                        <a:buFont typeface="Times New Roman"/>
                        <a:buNone/>
                      </a:pPr>
                      <a:r>
                        <a:rPr lang="en-US" sz="6000" b="1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0"/>
                        <a:buFont typeface="Times New Roman"/>
                        <a:buNone/>
                      </a:pPr>
                      <a:r>
                        <a:rPr lang="en-US" sz="6000" b="1" i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US" sz="6000" b="1" i="1" u="none" strike="noStrike" cap="none" baseline="-25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22" name="Google Shape;222;p17"/>
          <p:cNvSpPr txBox="1"/>
          <p:nvPr/>
        </p:nvSpPr>
        <p:spPr>
          <a:xfrm>
            <a:off x="179387" y="5581650"/>
            <a:ext cx="8745537" cy="534987"/>
          </a:xfrm>
          <a:prstGeom prst="rect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2800" b="1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</a:t>
            </a: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F(х</a:t>
            </a:r>
            <a:r>
              <a:rPr lang="en-US" sz="2800" b="1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f(x</a:t>
            </a:r>
            <a:r>
              <a:rPr lang="en-US" sz="2800" b="1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</a:t>
            </a: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 y</a:t>
            </a:r>
            <a:r>
              <a:rPr lang="en-US" sz="2800" b="1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F(х</a:t>
            </a:r>
            <a:r>
              <a:rPr lang="en-US" sz="2800" b="1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f(x</a:t>
            </a:r>
            <a:r>
              <a:rPr lang="en-US" sz="2800" b="1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),..., y</a:t>
            </a:r>
            <a:r>
              <a:rPr lang="en-US" sz="2800" b="1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F(х</a:t>
            </a:r>
            <a:r>
              <a:rPr lang="en-US" sz="2800" b="1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f(x</a:t>
            </a:r>
            <a:r>
              <a:rPr lang="en-US" sz="2800" b="1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8"/>
          <p:cNvSpPr txBox="1"/>
          <p:nvPr/>
        </p:nvSpPr>
        <p:spPr>
          <a:xfrm>
            <a:off x="179387" y="333375"/>
            <a:ext cx="8569325" cy="15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Интерполирование функции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это нахождение значения функции в точках, отличных от узлов интерполяции </a:t>
            </a:r>
            <a:endParaRPr/>
          </a:p>
        </p:txBody>
      </p:sp>
      <p:grpSp>
        <p:nvGrpSpPr>
          <p:cNvPr id="229" name="Google Shape;229;p18"/>
          <p:cNvGrpSpPr/>
          <p:nvPr/>
        </p:nvGrpSpPr>
        <p:grpSpPr>
          <a:xfrm>
            <a:off x="2339975" y="2349500"/>
            <a:ext cx="4392612" cy="574675"/>
            <a:chOff x="1474" y="1480"/>
            <a:chExt cx="2767" cy="362"/>
          </a:xfrm>
        </p:grpSpPr>
        <p:sp>
          <p:nvSpPr>
            <p:cNvPr id="230" name="Google Shape;230;p18"/>
            <p:cNvSpPr txBox="1"/>
            <p:nvPr/>
          </p:nvSpPr>
          <p:spPr>
            <a:xfrm>
              <a:off x="1474" y="1525"/>
              <a:ext cx="2767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2400"/>
                <a:buFont typeface="Times New Roman"/>
                <a:buNone/>
              </a:pPr>
              <a:r>
                <a:rPr lang="en-US" sz="2400" b="1" i="0" u="none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ИНТЕРПОЛИРОВАНИЕ</a:t>
              </a:r>
              <a:endParaRPr/>
            </a:p>
          </p:txBody>
        </p:sp>
        <p:grpSp>
          <p:nvGrpSpPr>
            <p:cNvPr id="231" name="Google Shape;231;p18"/>
            <p:cNvGrpSpPr/>
            <p:nvPr/>
          </p:nvGrpSpPr>
          <p:grpSpPr>
            <a:xfrm>
              <a:off x="1474" y="1480"/>
              <a:ext cx="2359" cy="362"/>
              <a:chOff x="1474" y="1480"/>
              <a:chExt cx="2359" cy="362"/>
            </a:xfrm>
          </p:grpSpPr>
          <p:cxnSp>
            <p:nvCxnSpPr>
              <p:cNvPr id="232" name="Google Shape;232;p18"/>
              <p:cNvCxnSpPr/>
              <p:nvPr/>
            </p:nvCxnSpPr>
            <p:spPr>
              <a:xfrm>
                <a:off x="1474" y="1480"/>
                <a:ext cx="2359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233" name="Google Shape;233;p18"/>
              <p:cNvCxnSpPr/>
              <p:nvPr/>
            </p:nvCxnSpPr>
            <p:spPr>
              <a:xfrm>
                <a:off x="1474" y="1480"/>
                <a:ext cx="0" cy="362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234" name="Google Shape;234;p18"/>
              <p:cNvCxnSpPr/>
              <p:nvPr/>
            </p:nvCxnSpPr>
            <p:spPr>
              <a:xfrm>
                <a:off x="1474" y="1842"/>
                <a:ext cx="2359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235" name="Google Shape;235;p18"/>
              <p:cNvCxnSpPr/>
              <p:nvPr/>
            </p:nvCxnSpPr>
            <p:spPr>
              <a:xfrm>
                <a:off x="3833" y="1480"/>
                <a:ext cx="0" cy="362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</p:grpSp>
      <p:cxnSp>
        <p:nvCxnSpPr>
          <p:cNvPr id="236" name="Google Shape;236;p18"/>
          <p:cNvCxnSpPr/>
          <p:nvPr/>
        </p:nvCxnSpPr>
        <p:spPr>
          <a:xfrm>
            <a:off x="4140200" y="2924175"/>
            <a:ext cx="0" cy="57626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37" name="Google Shape;237;p18"/>
          <p:cNvCxnSpPr/>
          <p:nvPr/>
        </p:nvCxnSpPr>
        <p:spPr>
          <a:xfrm>
            <a:off x="2051050" y="3500437"/>
            <a:ext cx="432117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38" name="Google Shape;238;p18"/>
          <p:cNvCxnSpPr/>
          <p:nvPr/>
        </p:nvCxnSpPr>
        <p:spPr>
          <a:xfrm>
            <a:off x="2051050" y="3500437"/>
            <a:ext cx="0" cy="64928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39" name="Google Shape;239;p18"/>
          <p:cNvCxnSpPr/>
          <p:nvPr/>
        </p:nvCxnSpPr>
        <p:spPr>
          <a:xfrm>
            <a:off x="6372225" y="3500437"/>
            <a:ext cx="0" cy="64928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grpSp>
        <p:nvGrpSpPr>
          <p:cNvPr id="240" name="Google Shape;240;p18"/>
          <p:cNvGrpSpPr/>
          <p:nvPr/>
        </p:nvGrpSpPr>
        <p:grpSpPr>
          <a:xfrm>
            <a:off x="179387" y="4149725"/>
            <a:ext cx="5076825" cy="792162"/>
            <a:chOff x="0" y="2614"/>
            <a:chExt cx="3198" cy="499"/>
          </a:xfrm>
        </p:grpSpPr>
        <p:sp>
          <p:nvSpPr>
            <p:cNvPr id="241" name="Google Shape;241;p18"/>
            <p:cNvSpPr txBox="1"/>
            <p:nvPr/>
          </p:nvSpPr>
          <p:spPr>
            <a:xfrm>
              <a:off x="0" y="2614"/>
              <a:ext cx="3198" cy="499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2" name="Google Shape;242;p18"/>
            <p:cNvSpPr txBox="1"/>
            <p:nvPr/>
          </p:nvSpPr>
          <p:spPr>
            <a:xfrm>
              <a:off x="0" y="2704"/>
              <a:ext cx="3198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lang="en-US"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Интерполирование в узком смысле</a:t>
              </a:r>
              <a:endParaRPr/>
            </a:p>
          </p:txBody>
        </p:sp>
      </p:grpSp>
      <p:grpSp>
        <p:nvGrpSpPr>
          <p:cNvPr id="243" name="Google Shape;243;p18"/>
          <p:cNvGrpSpPr/>
          <p:nvPr/>
        </p:nvGrpSpPr>
        <p:grpSpPr>
          <a:xfrm>
            <a:off x="5292725" y="4149725"/>
            <a:ext cx="3671887" cy="792162"/>
            <a:chOff x="3334" y="2614"/>
            <a:chExt cx="2313" cy="499"/>
          </a:xfrm>
        </p:grpSpPr>
        <p:sp>
          <p:nvSpPr>
            <p:cNvPr id="244" name="Google Shape;244;p18"/>
            <p:cNvSpPr txBox="1"/>
            <p:nvPr/>
          </p:nvSpPr>
          <p:spPr>
            <a:xfrm>
              <a:off x="3334" y="2614"/>
              <a:ext cx="2313" cy="499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5" name="Google Shape;245;p18"/>
            <p:cNvSpPr txBox="1"/>
            <p:nvPr/>
          </p:nvSpPr>
          <p:spPr>
            <a:xfrm>
              <a:off x="3560" y="2704"/>
              <a:ext cx="1905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lang="en-US"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Экстраполирование</a:t>
              </a:r>
              <a:endParaRPr/>
            </a:p>
          </p:txBody>
        </p:sp>
      </p:grpSp>
      <p:grpSp>
        <p:nvGrpSpPr>
          <p:cNvPr id="246" name="Google Shape;246;p18"/>
          <p:cNvGrpSpPr/>
          <p:nvPr/>
        </p:nvGrpSpPr>
        <p:grpSpPr>
          <a:xfrm>
            <a:off x="323850" y="5373687"/>
            <a:ext cx="3600450" cy="808037"/>
            <a:chOff x="204" y="3385"/>
            <a:chExt cx="2268" cy="509"/>
          </a:xfrm>
        </p:grpSpPr>
        <p:grpSp>
          <p:nvGrpSpPr>
            <p:cNvPr id="247" name="Google Shape;247;p18"/>
            <p:cNvGrpSpPr/>
            <p:nvPr/>
          </p:nvGrpSpPr>
          <p:grpSpPr>
            <a:xfrm>
              <a:off x="204" y="3385"/>
              <a:ext cx="2268" cy="499"/>
              <a:chOff x="0" y="2614"/>
              <a:chExt cx="3198" cy="499"/>
            </a:xfrm>
          </p:grpSpPr>
          <p:sp>
            <p:nvSpPr>
              <p:cNvPr id="248" name="Google Shape;248;p18"/>
              <p:cNvSpPr txBox="1"/>
              <p:nvPr/>
            </p:nvSpPr>
            <p:spPr>
              <a:xfrm>
                <a:off x="0" y="2614"/>
                <a:ext cx="3198" cy="499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49" name="Google Shape;249;p18"/>
              <p:cNvSpPr txBox="1"/>
              <p:nvPr/>
            </p:nvSpPr>
            <p:spPr>
              <a:xfrm>
                <a:off x="0" y="2704"/>
                <a:ext cx="3198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lang="en-US" sz="2400" b="1" i="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Х</a:t>
                </a:r>
                <a:r>
                  <a:rPr lang="en-US" sz="2400" b="0" i="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		</a:t>
                </a:r>
                <a:r>
                  <a:rPr lang="en-US" sz="2400" b="1" i="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[Х</a:t>
                </a:r>
                <a:r>
                  <a:rPr lang="en-US" sz="2400" b="1" i="0" u="none" baseline="-25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</a:t>
                </a:r>
                <a:r>
                  <a:rPr lang="en-US" sz="2400" b="1" i="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; Х</a:t>
                </a:r>
                <a:r>
                  <a:rPr lang="en-US" sz="2400" b="1" i="0" u="none" baseline="-25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n</a:t>
                </a:r>
                <a:r>
                  <a:rPr lang="en-US" sz="2400" b="1" i="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]</a:t>
                </a:r>
                <a:endParaRPr/>
              </a:p>
            </p:txBody>
          </p:sp>
        </p:grpSp>
        <p:pic>
          <p:nvPicPr>
            <p:cNvPr id="250" name="Google Shape;250;p1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03" y="3385"/>
              <a:ext cx="509" cy="50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1" name="Google Shape;251;p18"/>
          <p:cNvGrpSpPr/>
          <p:nvPr/>
        </p:nvGrpSpPr>
        <p:grpSpPr>
          <a:xfrm>
            <a:off x="5148262" y="5373687"/>
            <a:ext cx="3600450" cy="808037"/>
            <a:chOff x="3243" y="3385"/>
            <a:chExt cx="2268" cy="509"/>
          </a:xfrm>
        </p:grpSpPr>
        <p:grpSp>
          <p:nvGrpSpPr>
            <p:cNvPr id="252" name="Google Shape;252;p18"/>
            <p:cNvGrpSpPr/>
            <p:nvPr/>
          </p:nvGrpSpPr>
          <p:grpSpPr>
            <a:xfrm>
              <a:off x="3243" y="3385"/>
              <a:ext cx="2268" cy="499"/>
              <a:chOff x="0" y="2614"/>
              <a:chExt cx="3198" cy="499"/>
            </a:xfrm>
          </p:grpSpPr>
          <p:sp>
            <p:nvSpPr>
              <p:cNvPr id="253" name="Google Shape;253;p18"/>
              <p:cNvSpPr txBox="1"/>
              <p:nvPr/>
            </p:nvSpPr>
            <p:spPr>
              <a:xfrm>
                <a:off x="0" y="2614"/>
                <a:ext cx="3198" cy="499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54" name="Google Shape;254;p18"/>
              <p:cNvSpPr txBox="1"/>
              <p:nvPr/>
            </p:nvSpPr>
            <p:spPr>
              <a:xfrm>
                <a:off x="0" y="2704"/>
                <a:ext cx="3198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lang="en-US" sz="2400" b="1" i="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Х</a:t>
                </a:r>
                <a:r>
                  <a:rPr lang="en-US" sz="2400" b="0" i="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		</a:t>
                </a:r>
                <a:r>
                  <a:rPr lang="en-US" sz="2400" b="1" i="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[Х</a:t>
                </a:r>
                <a:r>
                  <a:rPr lang="en-US" sz="2400" b="1" i="0" u="none" baseline="-25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</a:t>
                </a:r>
                <a:r>
                  <a:rPr lang="en-US" sz="2400" b="1" i="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; Х</a:t>
                </a:r>
                <a:r>
                  <a:rPr lang="en-US" sz="2400" b="1" i="0" u="none" baseline="-25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n</a:t>
                </a:r>
                <a:r>
                  <a:rPr lang="en-US" sz="2400" b="1" i="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]</a:t>
                </a:r>
                <a:endParaRPr/>
              </a:p>
            </p:txBody>
          </p:sp>
        </p:grpSp>
        <p:pic>
          <p:nvPicPr>
            <p:cNvPr id="255" name="Google Shape;255;p1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696" y="3385"/>
              <a:ext cx="509" cy="50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56" name="Google Shape;256;p18"/>
            <p:cNvCxnSpPr/>
            <p:nvPr/>
          </p:nvCxnSpPr>
          <p:spPr>
            <a:xfrm flipH="1">
              <a:off x="3833" y="3385"/>
              <a:ext cx="226" cy="499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cxnSp>
        <p:nvCxnSpPr>
          <p:cNvPr id="257" name="Google Shape;257;p18"/>
          <p:cNvCxnSpPr/>
          <p:nvPr/>
        </p:nvCxnSpPr>
        <p:spPr>
          <a:xfrm>
            <a:off x="2051050" y="4941887"/>
            <a:ext cx="0" cy="431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58" name="Google Shape;258;p18"/>
          <p:cNvCxnSpPr/>
          <p:nvPr/>
        </p:nvCxnSpPr>
        <p:spPr>
          <a:xfrm>
            <a:off x="6443662" y="4941887"/>
            <a:ext cx="0" cy="431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35" name="Номер слайда 3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9"/>
          <p:cNvSpPr txBox="1"/>
          <p:nvPr/>
        </p:nvSpPr>
        <p:spPr>
          <a:xfrm>
            <a:off x="250825" y="188912"/>
            <a:ext cx="8666162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4000" b="1" i="0" u="none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40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(х</a:t>
            </a:r>
            <a:r>
              <a:rPr lang="en-US" sz="4000" b="1" i="0" u="none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40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y</a:t>
            </a:r>
            <a:r>
              <a:rPr lang="en-US" sz="4000" b="1" i="0" u="none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40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F</a:t>
            </a:r>
            <a:r>
              <a:rPr lang="en-US" sz="4000" b="1" i="0" u="none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40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(х</a:t>
            </a:r>
            <a:r>
              <a:rPr lang="en-US" sz="4000" b="1" i="0" u="none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40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y</a:t>
            </a:r>
            <a:r>
              <a:rPr lang="en-US" sz="4000" b="1" i="0" u="none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40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…, F</a:t>
            </a:r>
            <a:r>
              <a:rPr lang="en-US" sz="4000" b="1" i="0" u="none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40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4000" b="1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х</a:t>
            </a:r>
            <a:r>
              <a:rPr lang="en-US" sz="4000" b="1" i="0" u="none" baseline="-25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40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</a:t>
            </a:r>
            <a:r>
              <a:rPr lang="en-US" sz="4000" b="1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4000" b="1" i="0" u="none" baseline="-25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dirty="0"/>
          </a:p>
        </p:txBody>
      </p:sp>
      <p:sp>
        <p:nvSpPr>
          <p:cNvPr id="265" name="Google Shape;265;p19"/>
          <p:cNvSpPr txBox="1"/>
          <p:nvPr/>
        </p:nvSpPr>
        <p:spPr>
          <a:xfrm>
            <a:off x="179387" y="2840037"/>
            <a:ext cx="8878887" cy="727075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4000" b="1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4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(х) - интерполяционный многочлен</a:t>
            </a:r>
            <a:endParaRPr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0"/>
          <p:cNvSpPr txBox="1"/>
          <p:nvPr/>
        </p:nvSpPr>
        <p:spPr>
          <a:xfrm>
            <a:off x="323850" y="333375"/>
            <a:ext cx="8064500" cy="180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 </a:t>
            </a: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интерполировании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функцию, заданную ее значениями в узлах интерполяции (то есть, с помощью </a:t>
            </a: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таблицы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заменяют </a:t>
            </a: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формулой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(аналитическое задание функции)</a:t>
            </a:r>
            <a:endParaRPr/>
          </a:p>
        </p:txBody>
      </p:sp>
      <p:cxnSp>
        <p:nvCxnSpPr>
          <p:cNvPr id="272" name="Google Shape;272;p20"/>
          <p:cNvCxnSpPr/>
          <p:nvPr/>
        </p:nvCxnSpPr>
        <p:spPr>
          <a:xfrm>
            <a:off x="4211637" y="2133600"/>
            <a:ext cx="0" cy="57467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73" name="Google Shape;273;p20"/>
          <p:cNvCxnSpPr/>
          <p:nvPr/>
        </p:nvCxnSpPr>
        <p:spPr>
          <a:xfrm>
            <a:off x="2124075" y="2708275"/>
            <a:ext cx="4319587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74" name="Google Shape;274;p20"/>
          <p:cNvCxnSpPr/>
          <p:nvPr/>
        </p:nvCxnSpPr>
        <p:spPr>
          <a:xfrm>
            <a:off x="2124075" y="2708275"/>
            <a:ext cx="0" cy="43338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75" name="Google Shape;275;p20"/>
          <p:cNvCxnSpPr/>
          <p:nvPr/>
        </p:nvCxnSpPr>
        <p:spPr>
          <a:xfrm>
            <a:off x="6443662" y="2708275"/>
            <a:ext cx="0" cy="36036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276" name="Google Shape;276;p20"/>
          <p:cNvSpPr txBox="1"/>
          <p:nvPr/>
        </p:nvSpPr>
        <p:spPr>
          <a:xfrm>
            <a:off x="0" y="3141662"/>
            <a:ext cx="4392612" cy="15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Интерполирование с помощью многочлена </a:t>
            </a:r>
            <a:r>
              <a:rPr lang="en-US" sz="32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Лагранжа</a:t>
            </a:r>
            <a:endParaRPr/>
          </a:p>
        </p:txBody>
      </p:sp>
      <p:sp>
        <p:nvSpPr>
          <p:cNvPr id="277" name="Google Shape;277;p20"/>
          <p:cNvSpPr txBox="1"/>
          <p:nvPr/>
        </p:nvSpPr>
        <p:spPr>
          <a:xfrm>
            <a:off x="4751387" y="3213100"/>
            <a:ext cx="4392612" cy="15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Интерполирование с помощью многочлена </a:t>
            </a:r>
            <a:r>
              <a:rPr lang="en-US" sz="32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Ньютона</a:t>
            </a:r>
            <a:endParaRPr/>
          </a:p>
        </p:txBody>
      </p:sp>
      <p:cxnSp>
        <p:nvCxnSpPr>
          <p:cNvPr id="278" name="Google Shape;278;p20"/>
          <p:cNvCxnSpPr/>
          <p:nvPr/>
        </p:nvCxnSpPr>
        <p:spPr>
          <a:xfrm>
            <a:off x="323850" y="4797425"/>
            <a:ext cx="0" cy="1511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79" name="Google Shape;279;p20"/>
          <p:cNvCxnSpPr/>
          <p:nvPr/>
        </p:nvCxnSpPr>
        <p:spPr>
          <a:xfrm>
            <a:off x="323850" y="5373687"/>
            <a:ext cx="360362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80" name="Google Shape;280;p20"/>
          <p:cNvCxnSpPr/>
          <p:nvPr/>
        </p:nvCxnSpPr>
        <p:spPr>
          <a:xfrm>
            <a:off x="395287" y="6092825"/>
            <a:ext cx="287337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281" name="Google Shape;281;p20"/>
          <p:cNvSpPr txBox="1"/>
          <p:nvPr/>
        </p:nvSpPr>
        <p:spPr>
          <a:xfrm>
            <a:off x="755650" y="5157787"/>
            <a:ext cx="77041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Равноотстоящие узлы интерполяции: 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h=x</a:t>
            </a:r>
            <a:r>
              <a:rPr lang="en-US" sz="2400" b="1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-x</a:t>
            </a:r>
            <a:r>
              <a:rPr lang="en-US" sz="2400" b="1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i+1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=const</a:t>
            </a:r>
            <a:endParaRPr/>
          </a:p>
        </p:txBody>
      </p:sp>
      <p:grpSp>
        <p:nvGrpSpPr>
          <p:cNvPr id="282" name="Google Shape;282;p20"/>
          <p:cNvGrpSpPr/>
          <p:nvPr/>
        </p:nvGrpSpPr>
        <p:grpSpPr>
          <a:xfrm>
            <a:off x="684212" y="5805487"/>
            <a:ext cx="7704137" cy="457200"/>
            <a:chOff x="431" y="3793"/>
            <a:chExt cx="4853" cy="288"/>
          </a:xfrm>
        </p:grpSpPr>
        <p:sp>
          <p:nvSpPr>
            <p:cNvPr id="283" name="Google Shape;283;p20"/>
            <p:cNvSpPr txBox="1"/>
            <p:nvPr/>
          </p:nvSpPr>
          <p:spPr>
            <a:xfrm>
              <a:off x="431" y="3793"/>
              <a:ext cx="4853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lang="en-US"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Неравноотстоящие узлы интерполяции: </a:t>
              </a:r>
              <a:r>
                <a:rPr lang="en-US" sz="2400" b="1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h=x</a:t>
              </a:r>
              <a:r>
                <a:rPr lang="en-US" sz="2400" b="1" i="0" u="none" baseline="-25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lang="en-US" sz="2400" b="1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-x</a:t>
              </a:r>
              <a:r>
                <a:rPr lang="en-US" sz="2400" b="1" i="0" u="none" baseline="-25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i+1</a:t>
              </a:r>
              <a:r>
                <a:rPr lang="en-US" sz="2400" b="1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=const</a:t>
              </a:r>
              <a:endParaRPr/>
            </a:p>
          </p:txBody>
        </p:sp>
        <p:cxnSp>
          <p:nvCxnSpPr>
            <p:cNvPr id="284" name="Google Shape;284;p20"/>
            <p:cNvCxnSpPr/>
            <p:nvPr/>
          </p:nvCxnSpPr>
          <p:spPr>
            <a:xfrm flipH="1">
              <a:off x="4513" y="3884"/>
              <a:ext cx="45" cy="9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sp>
        <p:nvSpPr>
          <p:cNvPr id="17" name="Номер слайда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600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1"/>
          <p:cNvSpPr txBox="1"/>
          <p:nvPr/>
        </p:nvSpPr>
        <p:spPr>
          <a:xfrm>
            <a:off x="250825" y="115887"/>
            <a:ext cx="47529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Задача:</a:t>
            </a:r>
            <a:endParaRPr/>
          </a:p>
        </p:txBody>
      </p:sp>
      <p:sp>
        <p:nvSpPr>
          <p:cNvPr id="291" name="Google Shape;291;p21"/>
          <p:cNvSpPr txBox="1"/>
          <p:nvPr/>
        </p:nvSpPr>
        <p:spPr>
          <a:xfrm>
            <a:off x="1206500" y="620712"/>
            <a:ext cx="6791325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3600" b="1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3600" b="1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f(x</a:t>
            </a:r>
            <a:r>
              <a:rPr lang="en-US" sz="3600" b="1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3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3600" b="1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у</a:t>
            </a:r>
            <a:r>
              <a:rPr lang="en-US" sz="3600" b="1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3600" b="1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f(x</a:t>
            </a:r>
            <a:r>
              <a:rPr lang="en-US" sz="3600" b="1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3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</a:t>
            </a:r>
            <a:r>
              <a:rPr lang="en-US" sz="3600" b="1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…, у</a:t>
            </a:r>
            <a:r>
              <a:rPr lang="en-US" sz="3600" b="1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600" b="1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f(x</a:t>
            </a:r>
            <a:r>
              <a:rPr lang="en-US" sz="3600" b="1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</p:txBody>
      </p:sp>
      <p:sp>
        <p:nvSpPr>
          <p:cNvPr id="292" name="Google Shape;292;p21"/>
          <p:cNvSpPr txBox="1"/>
          <p:nvPr/>
        </p:nvSpPr>
        <p:spPr>
          <a:xfrm>
            <a:off x="1116012" y="1628775"/>
            <a:ext cx="6500812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4000"/>
              <a:buFont typeface="Times New Roman"/>
              <a:buNone/>
            </a:pPr>
            <a:r>
              <a:rPr lang="en-US" sz="4000" b="1" i="1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L(x)</a:t>
            </a:r>
            <a:r>
              <a:rPr lang="en-US" sz="4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многочлен Лагранжа</a:t>
            </a:r>
            <a:endParaRPr/>
          </a:p>
        </p:txBody>
      </p:sp>
      <p:sp>
        <p:nvSpPr>
          <p:cNvPr id="293" name="Google Shape;293;p21"/>
          <p:cNvSpPr txBox="1"/>
          <p:nvPr/>
        </p:nvSpPr>
        <p:spPr>
          <a:xfrm>
            <a:off x="2700337" y="2492375"/>
            <a:ext cx="2554287" cy="2530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 b="1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US" sz="4000" b="1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4000" b="1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(х</a:t>
            </a:r>
            <a:r>
              <a:rPr lang="en-US" sz="4000" b="1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4000" b="1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y</a:t>
            </a:r>
            <a:r>
              <a:rPr lang="en-US" sz="4000" b="1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4000" b="1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 b="1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US" sz="4000" b="1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4000" b="1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(х</a:t>
            </a:r>
            <a:r>
              <a:rPr lang="en-US" sz="4000" b="1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4000" b="1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y</a:t>
            </a:r>
            <a:r>
              <a:rPr lang="en-US" sz="4000" b="1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4000" b="1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 b="1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 b="1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US" sz="4000" b="1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4000" b="1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(х</a:t>
            </a:r>
            <a:r>
              <a:rPr lang="en-US" sz="4000" b="1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4000" b="1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y</a:t>
            </a:r>
            <a:r>
              <a:rPr lang="en-US" sz="4000" b="1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4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2"/>
          <p:cNvSpPr txBox="1"/>
          <p:nvPr/>
        </p:nvSpPr>
        <p:spPr>
          <a:xfrm>
            <a:off x="423862" y="0"/>
            <a:ext cx="8016875" cy="15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lang="en-US" sz="3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Узлы интерполяции </a:t>
            </a:r>
            <a:r>
              <a:rPr lang="en-US" sz="32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неравноотстоящие</a:t>
            </a:r>
            <a:endParaRPr sz="32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lang="en-US" sz="3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h=x</a:t>
            </a:r>
            <a:r>
              <a:rPr lang="en-US" sz="3200" b="1" i="0" u="none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3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-x</a:t>
            </a:r>
            <a:r>
              <a:rPr lang="en-US" sz="3200" b="1" i="0" u="none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i+1		</a:t>
            </a:r>
            <a:r>
              <a:rPr lang="en-US" sz="3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0" name="Google Shape;300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43437" y="692150"/>
            <a:ext cx="287337" cy="287337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2"/>
          <p:cNvSpPr txBox="1"/>
          <p:nvPr/>
        </p:nvSpPr>
        <p:spPr>
          <a:xfrm>
            <a:off x="684212" y="2420937"/>
            <a:ext cx="7405687" cy="733425"/>
          </a:xfrm>
          <a:prstGeom prst="rect">
            <a:avLst/>
          </a:prstGeom>
          <a:noFill/>
          <a:ln w="317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US" sz="4000" b="1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4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(х) = a</a:t>
            </a:r>
            <a:r>
              <a:rPr lang="en-US" sz="4000" b="1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4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а</a:t>
            </a:r>
            <a:r>
              <a:rPr lang="en-US" sz="4000" b="1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4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х + а</a:t>
            </a:r>
            <a:r>
              <a:rPr lang="en-US" sz="4000" b="1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4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х</a:t>
            </a:r>
            <a:r>
              <a:rPr lang="en-US" sz="4000" b="1" i="0" u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4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... + а</a:t>
            </a:r>
            <a:r>
              <a:rPr lang="en-US" sz="4000" b="1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4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х</a:t>
            </a:r>
            <a:r>
              <a:rPr lang="en-US" sz="4000" b="1" i="0" u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4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3"/>
          <p:cNvSpPr txBox="1"/>
          <p:nvPr/>
        </p:nvSpPr>
        <p:spPr>
          <a:xfrm>
            <a:off x="0" y="321468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8" name="Google Shape;308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5287" y="0"/>
            <a:ext cx="7848600" cy="185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5287" y="2205037"/>
            <a:ext cx="8280400" cy="1833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95287" y="4221162"/>
            <a:ext cx="7416800" cy="183991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4"/>
          <p:cNvSpPr txBox="1"/>
          <p:nvPr/>
        </p:nvSpPr>
        <p:spPr>
          <a:xfrm>
            <a:off x="0" y="3205162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7" name="Google Shape;317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0825" y="2420937"/>
            <a:ext cx="8748712" cy="1214437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4"/>
          <p:cNvSpPr txBox="1"/>
          <p:nvPr/>
        </p:nvSpPr>
        <p:spPr>
          <a:xfrm>
            <a:off x="1116012" y="620712"/>
            <a:ext cx="6532562" cy="946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Сокращенный вид интерполяционного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многочлена Лагранжа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24525" y="0"/>
            <a:ext cx="3024187" cy="86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5287" y="2708275"/>
            <a:ext cx="7848600" cy="1617662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5"/>
          <p:cNvSpPr txBox="1"/>
          <p:nvPr/>
        </p:nvSpPr>
        <p:spPr>
          <a:xfrm>
            <a:off x="0" y="188912"/>
            <a:ext cx="54181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400"/>
              <a:buFont typeface="Times New Roman"/>
              <a:buNone/>
            </a:pPr>
            <a:r>
              <a:rPr lang="en-US" sz="2400" b="0" i="0" u="sng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Пример 1.</a:t>
            </a:r>
            <a:r>
              <a:rPr lang="en-US" sz="2400" b="0" i="0" u="non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Функция задана таблично </a:t>
            </a:r>
            <a:endParaRPr/>
          </a:p>
        </p:txBody>
      </p:sp>
      <p:sp>
        <p:nvSpPr>
          <p:cNvPr id="327" name="Google Shape;327;p25"/>
          <p:cNvSpPr txBox="1"/>
          <p:nvPr/>
        </p:nvSpPr>
        <p:spPr>
          <a:xfrm>
            <a:off x="0" y="692150"/>
            <a:ext cx="7947025" cy="822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Пользуясь интерполяционным </a:t>
            </a:r>
            <a:endParaRPr sz="2400" b="0" i="0" u="none">
              <a:solidFill>
                <a:srgbClr val="8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многочленом Лагранжа, найти ее значение в точке х = 4.</a:t>
            </a:r>
            <a:endParaRPr/>
          </a:p>
        </p:txBody>
      </p:sp>
      <p:sp>
        <p:nvSpPr>
          <p:cNvPr id="328" name="Google Shape;328;p25"/>
          <p:cNvSpPr txBox="1"/>
          <p:nvPr/>
        </p:nvSpPr>
        <p:spPr>
          <a:xfrm>
            <a:off x="2124075" y="1484312"/>
            <a:ext cx="45720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Решение.</a:t>
            </a:r>
            <a:endParaRPr/>
          </a:p>
        </p:txBody>
      </p:sp>
      <p:sp>
        <p:nvSpPr>
          <p:cNvPr id="329" name="Google Shape;329;p25"/>
          <p:cNvSpPr txBox="1"/>
          <p:nvPr/>
        </p:nvSpPr>
        <p:spPr>
          <a:xfrm>
            <a:off x="323850" y="2205037"/>
            <a:ext cx="4179887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Подставляя в формулу х=4, получим</a:t>
            </a:r>
            <a:endParaRPr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6"/>
          <p:cNvSpPr txBox="1"/>
          <p:nvPr/>
        </p:nvSpPr>
        <p:spPr>
          <a:xfrm>
            <a:off x="611187" y="98425"/>
            <a:ext cx="7634287" cy="1858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lang="en-US" sz="3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2) Узлы интерполяции </a:t>
            </a:r>
            <a:r>
              <a:rPr lang="en-US" sz="32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равноотстоящие</a:t>
            </a:r>
            <a:endParaRPr sz="32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lang="en-US" sz="3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h=x</a:t>
            </a:r>
            <a:r>
              <a:rPr lang="en-US" sz="3200" b="1" i="0" u="none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3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-x</a:t>
            </a:r>
            <a:r>
              <a:rPr lang="en-US" sz="3200" b="1" i="0" u="none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i+1	</a:t>
            </a:r>
            <a:r>
              <a:rPr lang="en-US" sz="3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=const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1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Пусть </a:t>
            </a:r>
            <a:r>
              <a:rPr lang="en-US" sz="3200" b="1" i="1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q=(x-x</a:t>
            </a:r>
            <a:r>
              <a:rPr lang="en-US" sz="3200" b="1" i="1" u="none" baseline="-25000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3200" b="1" i="1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)/h</a:t>
            </a:r>
            <a:endParaRPr/>
          </a:p>
        </p:txBody>
      </p:sp>
      <p:sp>
        <p:nvSpPr>
          <p:cNvPr id="336" name="Google Shape;336;p26"/>
          <p:cNvSpPr txBox="1"/>
          <p:nvPr/>
        </p:nvSpPr>
        <p:spPr>
          <a:xfrm>
            <a:off x="0" y="3205162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7" name="Google Shape;337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3850" y="2420937"/>
            <a:ext cx="8461375" cy="1489075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338" name="Google Shape;338;p26"/>
          <p:cNvSpPr txBox="1"/>
          <p:nvPr/>
        </p:nvSpPr>
        <p:spPr>
          <a:xfrm>
            <a:off x="0" y="321945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9" name="Google Shape;33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76600" y="4868862"/>
            <a:ext cx="2016125" cy="963612"/>
          </a:xfrm>
          <a:prstGeom prst="rect">
            <a:avLst/>
          </a:prstGeom>
          <a:noFill/>
          <a:ln w="38100" cap="flat" cmpd="sng">
            <a:solidFill>
              <a:srgbClr val="33CCCC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Google Shape;345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68537" y="1557337"/>
            <a:ext cx="5183187" cy="96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825" y="2852737"/>
            <a:ext cx="8766175" cy="1454150"/>
          </a:xfrm>
          <a:prstGeom prst="rect">
            <a:avLst/>
          </a:prstGeom>
          <a:noFill/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347" name="Google Shape;347;p27"/>
          <p:cNvSpPr txBox="1"/>
          <p:nvPr/>
        </p:nvSpPr>
        <p:spPr>
          <a:xfrm>
            <a:off x="179387" y="115887"/>
            <a:ext cx="8443912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3810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Times New Roman"/>
              <a:buNone/>
            </a:pPr>
            <a:r>
              <a:rPr lang="en-US" sz="3200" b="1" i="1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Оценка погрешности </a:t>
            </a:r>
            <a:endParaRPr sz="3200" b="1" i="1" u="none">
              <a:solidFill>
                <a:srgbClr val="CC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3810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Times New Roman"/>
              <a:buNone/>
            </a:pPr>
            <a:r>
              <a:rPr lang="en-US" sz="3200" b="1" i="1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интерполяционного многочлена Лагранжа</a:t>
            </a:r>
            <a:endParaRPr/>
          </a:p>
        </p:txBody>
      </p:sp>
      <p:sp>
        <p:nvSpPr>
          <p:cNvPr id="348" name="Google Shape;348;p27"/>
          <p:cNvSpPr txBox="1"/>
          <p:nvPr/>
        </p:nvSpPr>
        <p:spPr>
          <a:xfrm>
            <a:off x="0" y="37592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8"/>
          <p:cNvSpPr txBox="1">
            <a:spLocks noGrp="1"/>
          </p:cNvSpPr>
          <p:nvPr>
            <p:ph type="subTitle" idx="1"/>
          </p:nvPr>
        </p:nvSpPr>
        <p:spPr>
          <a:xfrm>
            <a:off x="468312" y="836612"/>
            <a:ext cx="8077200" cy="221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800"/>
              <a:buFont typeface="Times New Roman"/>
              <a:buNone/>
            </a:pPr>
            <a:r>
              <a:rPr lang="en-US" sz="4800" b="1" i="1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Интерполяционная формула Ньютона </a:t>
            </a:r>
            <a:r>
              <a:rPr lang="en-US" sz="4800" b="0" i="1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Понятие </a:t>
            </a:r>
            <a:r>
              <a:rPr lang="en-US" sz="44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конечных разностей</a:t>
            </a:r>
            <a:endParaRPr/>
          </a:p>
        </p:txBody>
      </p:sp>
      <p:sp>
        <p:nvSpPr>
          <p:cNvPr id="359" name="Google Shape;359;p29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Пусть задана функция </a:t>
            </a:r>
            <a:r>
              <a:rPr lang="en-US" sz="3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y=f</a:t>
            </a: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3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на отрезке [</a:t>
            </a:r>
            <a:r>
              <a:rPr lang="en-US" sz="3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32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3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32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], который разбит на </a:t>
            </a:r>
            <a:r>
              <a:rPr lang="en-US" sz="3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одинаковых отрезков (случай равноотстоящих значений аргумента).  Δ</a:t>
            </a:r>
            <a:r>
              <a:rPr lang="en-US" sz="3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US" sz="3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US" sz="3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</a:t>
            </a: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Для каждого узла </a:t>
            </a:r>
            <a:r>
              <a:rPr lang="en-US" sz="3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32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32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US" sz="3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32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US" sz="3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..., </a:t>
            </a:r>
            <a:r>
              <a:rPr lang="en-US" sz="3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3200" b="0" i="1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US" sz="3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32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US" sz="3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n⋅h</a:t>
            </a: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определены значения функции в виде: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r>
              <a:rPr lang="en-US" sz="3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3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32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)=</a:t>
            </a:r>
            <a:r>
              <a:rPr lang="en-US" sz="3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32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</a:t>
            </a:r>
            <a:r>
              <a:rPr lang="en-US" sz="3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3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32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)=</a:t>
            </a:r>
            <a:r>
              <a:rPr lang="en-US" sz="3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32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...,  </a:t>
            </a:r>
            <a:r>
              <a:rPr lang="en-US" sz="3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3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3200" b="0" i="1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)=</a:t>
            </a:r>
            <a:r>
              <a:rPr lang="en-US" sz="3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3200" b="0" i="1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		</a:t>
            </a:r>
            <a:endParaRPr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Понятие </a:t>
            </a:r>
            <a:r>
              <a:rPr lang="en-US" sz="44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конечных разностей</a:t>
            </a:r>
            <a:endParaRPr/>
          </a:p>
        </p:txBody>
      </p:sp>
      <p:sp>
        <p:nvSpPr>
          <p:cNvPr id="365" name="Google Shape;365;p30"/>
          <p:cNvSpPr txBox="1">
            <a:spLocks noGrp="1"/>
          </p:cNvSpPr>
          <p:nvPr>
            <p:ph idx="1"/>
          </p:nvPr>
        </p:nvSpPr>
        <p:spPr>
          <a:xfrm>
            <a:off x="179387" y="1628775"/>
            <a:ext cx="8785225" cy="504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•"/>
            </a:pPr>
            <a:r>
              <a:rPr lang="en-US" sz="2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Конечные разности первого порядка</a:t>
            </a:r>
            <a:endParaRPr/>
          </a:p>
          <a:p>
            <a:pPr marL="342900" marR="0" lvl="0" indent="-342900" algn="ctr" rtl="0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</a:t>
            </a:r>
            <a:r>
              <a:rPr lang="en-US" sz="2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22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</a:t>
            </a: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US" sz="2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22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</a:t>
            </a:r>
            <a:r>
              <a:rPr lang="en-US" sz="2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22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342900" marR="0" lvl="0" indent="-342900" algn="ctr" rtl="0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</a:t>
            </a:r>
            <a:r>
              <a:rPr lang="en-US" sz="2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22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US" sz="2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22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</a:t>
            </a:r>
            <a:r>
              <a:rPr lang="en-US" sz="2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22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342900" marR="0" lvl="0" indent="-342900" algn="ctr" rtl="0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  .   .    .   .</a:t>
            </a:r>
            <a:endParaRPr/>
          </a:p>
          <a:p>
            <a:pPr marL="342900" marR="0" lvl="0" indent="-342900" algn="ctr" rtl="0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</a:t>
            </a:r>
            <a:r>
              <a:rPr lang="en-US" sz="2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2200" b="0" i="1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2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-1 </a:t>
            </a: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US" sz="2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2200" b="0" i="1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</a:t>
            </a:r>
            <a:r>
              <a:rPr lang="en-US" sz="2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2200" b="0" i="1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2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-1.</a:t>
            </a:r>
            <a:endParaRPr sz="2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•"/>
            </a:pPr>
            <a:r>
              <a:rPr lang="en-US" sz="2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Конечные разности второго порядка</a:t>
            </a:r>
            <a:endParaRPr/>
          </a:p>
          <a:p>
            <a:pPr marL="342900" marR="0" lvl="0" indent="-342900" algn="ctr" rtl="0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Δ</a:t>
            </a:r>
            <a:r>
              <a:rPr lang="en-US" sz="22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22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</a:t>
            </a: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Δ</a:t>
            </a:r>
            <a:r>
              <a:rPr lang="en-US" sz="2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22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Δ</a:t>
            </a:r>
            <a:r>
              <a:rPr lang="en-US" sz="2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22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342900" marR="0" lvl="0" indent="-342900" algn="ctr" rtl="0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Δ</a:t>
            </a:r>
            <a:r>
              <a:rPr lang="en-US" sz="22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22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Δ</a:t>
            </a:r>
            <a:r>
              <a:rPr lang="en-US" sz="2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22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Δ</a:t>
            </a:r>
            <a:r>
              <a:rPr lang="en-US" sz="2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22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  <a:p>
            <a:pPr marL="342900" marR="0" lvl="0" indent="-342900" algn="ctr" rtl="0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.   .   .   .    .    .</a:t>
            </a:r>
            <a:endParaRPr/>
          </a:p>
          <a:p>
            <a:pPr marL="342900" marR="0" lvl="0" indent="-342900" algn="ctr" rtl="0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</a:t>
            </a:r>
            <a:r>
              <a:rPr lang="en-US" sz="22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2200" b="0" i="1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2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-2 </a:t>
            </a: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Δ</a:t>
            </a:r>
            <a:r>
              <a:rPr lang="en-US" sz="2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2200" b="0" i="1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2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-1</a:t>
            </a: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Δ</a:t>
            </a:r>
            <a:r>
              <a:rPr lang="en-US" sz="2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2200" b="0" i="1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2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-2</a:t>
            </a:r>
            <a:endParaRPr sz="2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•"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Аналогично определяются конечные разности высших порядков:</a:t>
            </a:r>
            <a:endParaRPr/>
          </a:p>
          <a:p>
            <a:pPr marL="342900" marR="0" lvl="0" indent="-342900" algn="ctr" rtl="0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Δ</a:t>
            </a:r>
            <a:r>
              <a:rPr lang="en-US" sz="2200" b="0" i="1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22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 </a:t>
            </a: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Δ</a:t>
            </a:r>
            <a:r>
              <a:rPr lang="en-US" sz="2200" b="0" i="1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2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-1</a:t>
            </a:r>
            <a:r>
              <a:rPr lang="en-US" sz="2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22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Δ</a:t>
            </a:r>
            <a:r>
              <a:rPr lang="en-US" sz="2200" b="0" i="1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2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-1</a:t>
            </a:r>
            <a:r>
              <a:rPr lang="en-US" sz="2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22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  <a:p>
            <a:pPr marL="342900" marR="0" lvl="0" indent="-342900" algn="ctr" rtl="0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Δ</a:t>
            </a:r>
            <a:r>
              <a:rPr lang="en-US" sz="2200" b="0" i="1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22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Δ</a:t>
            </a:r>
            <a:r>
              <a:rPr lang="en-US" sz="2200" b="0" i="1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2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-1</a:t>
            </a:r>
            <a:r>
              <a:rPr lang="en-US" sz="2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22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Δ</a:t>
            </a:r>
            <a:r>
              <a:rPr lang="en-US" sz="2200" b="0" i="1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2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-1</a:t>
            </a:r>
            <a:r>
              <a:rPr lang="en-US" sz="2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22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  <a:p>
            <a:pPr marL="342900" marR="0" lvl="0" indent="-342900" algn="ctr" rtl="0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</a:pPr>
            <a:r>
              <a:rPr lang="en-US" sz="2200" b="1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.      .       .       .        .         .</a:t>
            </a:r>
            <a:endParaRPr/>
          </a:p>
          <a:p>
            <a:pPr marL="342900" marR="0" lvl="0" indent="-342900" algn="ctr" rtl="0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Δ</a:t>
            </a:r>
            <a:r>
              <a:rPr lang="en-US" sz="2200" b="0" i="1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22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Δ</a:t>
            </a:r>
            <a:r>
              <a:rPr lang="en-US" sz="2200" b="0" i="1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2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-1</a:t>
            </a:r>
            <a:r>
              <a:rPr lang="en-US" sz="2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22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i+1</a:t>
            </a: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Δ</a:t>
            </a:r>
            <a:r>
              <a:rPr lang="en-US" sz="22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k-1</a:t>
            </a:r>
            <a:r>
              <a:rPr lang="en-US" sz="2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22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        ,          </a:t>
            </a:r>
            <a:r>
              <a:rPr lang="en-US" sz="2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0,1,...,</a:t>
            </a:r>
            <a:r>
              <a:rPr lang="en-US" sz="2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n-k</a:t>
            </a: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342900" marR="0" lvl="0" indent="-2032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</a:pPr>
            <a:endParaRPr sz="22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Понятие </a:t>
            </a:r>
            <a:r>
              <a:rPr lang="en-US" sz="44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конечных разностей</a:t>
            </a:r>
            <a:endParaRPr/>
          </a:p>
        </p:txBody>
      </p:sp>
      <p:sp>
        <p:nvSpPr>
          <p:cNvPr id="371" name="Google Shape;371;p31"/>
          <p:cNvSpPr txBox="1">
            <a:spLocks noGrp="1"/>
          </p:cNvSpPr>
          <p:nvPr>
            <p:ph idx="1"/>
          </p:nvPr>
        </p:nvSpPr>
        <p:spPr>
          <a:xfrm>
            <a:off x="611187" y="1773237"/>
            <a:ext cx="7848600" cy="331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Конечные разности функций удобно располагать  в таблицах, которые могут быть:</a:t>
            </a:r>
            <a:endParaRPr/>
          </a:p>
          <a:p>
            <a:pPr marL="342900" marR="0" lvl="0" indent="-34290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endParaRPr sz="32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AutoNum type="arabicPeriod"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Диагональными;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AutoNum type="arabicPeriod"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Горизонтальными.</a:t>
            </a:r>
            <a:endParaRPr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endParaRPr sz="32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Диагональная таблица</a:t>
            </a:r>
            <a:endParaRPr/>
          </a:p>
        </p:txBody>
      </p:sp>
      <p:pic>
        <p:nvPicPr>
          <p:cNvPr id="377" name="Google Shape;377;p32"/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09562" y="1557337"/>
            <a:ext cx="8440737" cy="51117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Горизонтальная таблица</a:t>
            </a:r>
            <a:endParaRPr/>
          </a:p>
        </p:txBody>
      </p:sp>
      <p:pic>
        <p:nvPicPr>
          <p:cNvPr id="383" name="Google Shape;383;p33"/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38112" y="1916112"/>
            <a:ext cx="8920162" cy="33845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4"/>
          <p:cNvSpPr txBox="1"/>
          <p:nvPr/>
        </p:nvSpPr>
        <p:spPr>
          <a:xfrm>
            <a:off x="0" y="115887"/>
            <a:ext cx="7723187" cy="1187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400"/>
              <a:buFont typeface="Times New Roman"/>
              <a:buNone/>
            </a:pPr>
            <a:r>
              <a:rPr lang="en-US" sz="2400" b="0" i="0" u="sng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Пример 1.</a:t>
            </a:r>
            <a:r>
              <a:rPr lang="en-US" sz="2400" b="0" i="0" u="non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Составить таблицу конечных разностей</a:t>
            </a:r>
            <a:endParaRPr sz="2400" b="0" i="0" u="none">
              <a:solidFill>
                <a:srgbClr val="8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возможных порядков для функции, заданной таблично</a:t>
            </a: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90" name="Google Shape;390;p34"/>
          <p:cNvGraphicFramePr/>
          <p:nvPr/>
        </p:nvGraphicFramePr>
        <p:xfrm>
          <a:off x="1619250" y="981075"/>
          <a:ext cx="5832425" cy="960435"/>
        </p:xfrm>
        <a:graphic>
          <a:graphicData uri="http://schemas.openxmlformats.org/drawingml/2006/table">
            <a:tbl>
              <a:tblPr>
                <a:noFill/>
                <a:tableStyleId>{BC499ADD-3810-4C2D-BAB0-0FF7AB36DDAE}</a:tableStyleId>
              </a:tblPr>
              <a:tblGrid>
                <a:gridCol w="404800"/>
                <a:gridCol w="1108075"/>
                <a:gridCol w="1008050"/>
                <a:gridCol w="1223950"/>
                <a:gridCol w="1079500"/>
                <a:gridCol w="1008050"/>
              </a:tblGrid>
              <a:tr h="45720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00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1" i="0" u="none" strike="noStrike" cap="none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х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00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1" i="0" u="none" strike="noStrike" cap="none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00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1" i="0" u="none" strike="noStrike" cap="none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00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1" i="0" u="none" strike="noStrike" cap="none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00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1" i="0" u="none" strike="noStrike" cap="none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00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1" i="0" u="none" strike="noStrike" cap="none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03225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00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1" i="0" u="none" strike="noStrike" cap="none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у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00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1" i="0" u="none" strike="noStrike" cap="none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3,146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00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1" i="0" u="none" strike="noStrike" cap="none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4,028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00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1" i="0" u="none" strike="noStrike" cap="none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4,911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00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1" i="0" u="none" strike="noStrike" cap="none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5,796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00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1" i="0" u="none" strike="noStrike" cap="none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6,680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391" name="Google Shape;391;p34"/>
          <p:cNvSpPr txBox="1"/>
          <p:nvPr/>
        </p:nvSpPr>
        <p:spPr>
          <a:xfrm>
            <a:off x="3419475" y="2060575"/>
            <a:ext cx="1778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400"/>
              <a:buFont typeface="Times New Roman"/>
              <a:buNone/>
            </a:pPr>
            <a:r>
              <a:rPr lang="en-US" sz="2400" b="0" i="0" u="sng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Решение.</a:t>
            </a:r>
            <a:endParaRPr/>
          </a:p>
        </p:txBody>
      </p:sp>
      <p:sp>
        <p:nvSpPr>
          <p:cNvPr id="392" name="Google Shape;392;p34"/>
          <p:cNvSpPr txBox="1"/>
          <p:nvPr/>
        </p:nvSpPr>
        <p:spPr>
          <a:xfrm>
            <a:off x="0" y="1631950"/>
            <a:ext cx="1287462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3" name="Google Shape;393;p34"/>
          <p:cNvSpPr txBox="1"/>
          <p:nvPr/>
        </p:nvSpPr>
        <p:spPr>
          <a:xfrm>
            <a:off x="0" y="1631950"/>
            <a:ext cx="1279525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4" name="Google Shape;394;p34"/>
          <p:cNvSpPr txBox="1"/>
          <p:nvPr/>
        </p:nvSpPr>
        <p:spPr>
          <a:xfrm>
            <a:off x="0" y="1631950"/>
            <a:ext cx="1477962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5" name="Google Shape;395;p34"/>
          <p:cNvSpPr txBox="1"/>
          <p:nvPr/>
        </p:nvSpPr>
        <p:spPr>
          <a:xfrm>
            <a:off x="0" y="1631950"/>
            <a:ext cx="2011362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96" name="Google Shape;396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5875" y="2852737"/>
            <a:ext cx="9159875" cy="1951037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Номер слайда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5"/>
          <p:cNvSpPr txBox="1">
            <a:spLocks noGrp="1"/>
          </p:cNvSpPr>
          <p:nvPr>
            <p:ph type="title"/>
          </p:nvPr>
        </p:nvSpPr>
        <p:spPr>
          <a:xfrm>
            <a:off x="611187" y="404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imes New Roman"/>
              <a:buNone/>
            </a:pPr>
            <a:r>
              <a:rPr lang="en-US" b="1" i="1" u="none" dirty="0" err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Первая</a:t>
            </a:r>
            <a:r>
              <a:rPr lang="en-US" b="1" i="1" u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u="none" dirty="0" err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интерполяционная</a:t>
            </a:r>
            <a:r>
              <a:rPr lang="en-US" b="1" u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u="none" dirty="0" err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формула</a:t>
            </a:r>
            <a:r>
              <a:rPr lang="en-US" b="1" u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u="none" dirty="0" err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Ньютона</a:t>
            </a:r>
            <a:endParaRPr b="1" dirty="0"/>
          </a:p>
        </p:txBody>
      </p:sp>
      <p:sp>
        <p:nvSpPr>
          <p:cNvPr id="402" name="Google Shape;402;p35"/>
          <p:cNvSpPr txBox="1">
            <a:spLocks noGrp="1"/>
          </p:cNvSpPr>
          <p:nvPr>
            <p:ph idx="1"/>
          </p:nvPr>
        </p:nvSpPr>
        <p:spPr>
          <a:xfrm>
            <a:off x="179387" y="1458405"/>
            <a:ext cx="8713787" cy="462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sz="3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Пусть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функции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= f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30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3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заданы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значения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  </a:t>
            </a:r>
            <a:r>
              <a:rPr lang="en-US" sz="3000" b="0" i="1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3000" b="0" i="1" u="none" baseline="-25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30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US" sz="30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30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3000" b="0" i="1" u="none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3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b="1" i="1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равностоящих</a:t>
            </a:r>
            <a:r>
              <a:rPr lang="en-US" sz="3000" b="1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b="1" i="1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значений</a:t>
            </a:r>
            <a:r>
              <a:rPr lang="en-US" sz="3000" b="1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независимых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переменных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30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b="0" i="1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3000" b="0" i="1" u="none" baseline="-25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US" sz="30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3000" b="0" i="0" u="none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US" sz="3000" b="0" i="1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   </a:t>
            </a:r>
            <a:r>
              <a:rPr lang="en-US" sz="3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где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</a:t>
            </a:r>
            <a:r>
              <a:rPr lang="en-US" sz="3000" b="0" i="1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шаг</a:t>
            </a:r>
            <a:r>
              <a:rPr lang="en-US" sz="30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b="0" i="1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интерполяции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3000" dirty="0"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sz="3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Необходимо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найти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полином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b="0" i="1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3000" b="0" i="1" u="none" baseline="-25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30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3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степени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не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выше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принимающий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в </a:t>
            </a:r>
            <a:r>
              <a:rPr lang="en-US" sz="3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точках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3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узлах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30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3000" b="0" i="1" u="none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значения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3000" dirty="0"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 </a:t>
            </a:r>
            <a:r>
              <a:rPr lang="en-US" sz="3000" b="0" i="1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3000" b="0" i="1" u="none" baseline="-25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000" b="0" i="0" u="none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30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3000" b="0" i="1" u="none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</a:t>
            </a:r>
            <a:r>
              <a:rPr lang="en-US" sz="3000" b="0" i="1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3000" b="0" i="1" u="none" baseline="-25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3000" b="0" i="1" u="none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                </a:t>
            </a:r>
            <a:r>
              <a:rPr lang="en-US" sz="3000" b="0" i="1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=0,...,</a:t>
            </a:r>
            <a:r>
              <a:rPr lang="en-US" sz="30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n.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</a:t>
            </a:r>
            <a:endParaRPr sz="3000" dirty="0"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sz="3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Запишем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интерполирующий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полином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в </a:t>
            </a:r>
            <a:r>
              <a:rPr lang="en-US" sz="3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виде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3000" dirty="0"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endParaRPr sz="32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869137"/>
            <a:ext cx="9144000" cy="59531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6"/>
          <p:cNvSpPr txBox="1">
            <a:spLocks noGrp="1"/>
          </p:cNvSpPr>
          <p:nvPr>
            <p:ph idx="1"/>
          </p:nvPr>
        </p:nvSpPr>
        <p:spPr>
          <a:xfrm>
            <a:off x="457200" y="1412875"/>
            <a:ext cx="8229600" cy="4987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Задача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построения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многочлена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сводится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к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определению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коэффициентов </a:t>
            </a:r>
            <a:r>
              <a:rPr lang="en-US" sz="3200" b="1" i="1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</a:t>
            </a:r>
            <a:r>
              <a:rPr lang="en-US" sz="3200" b="1" i="1" u="none" baseline="-25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3200" b="1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из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условий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     </a:t>
            </a:r>
            <a:r>
              <a:rPr lang="en-US" sz="3200" b="0" i="1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3200" b="0" i="1" u="none" baseline="-25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32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3200" b="0" i="0" u="none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)=</a:t>
            </a:r>
            <a:r>
              <a:rPr lang="en-US" sz="32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3200" b="0" i="0" u="none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</a:t>
            </a:r>
            <a:r>
              <a:rPr lang="en-US" sz="3200" b="0" i="1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3200" b="0" i="0" u="none" baseline="-25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(x</a:t>
            </a:r>
            <a:r>
              <a:rPr lang="en-US" sz="3200" b="0" i="0" u="none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)=</a:t>
            </a:r>
            <a:r>
              <a:rPr lang="en-US" sz="32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3200" b="0" i="0" u="none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.    .    .  .                                                              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</a:t>
            </a:r>
            <a:r>
              <a:rPr lang="en-US" sz="3200" b="0" i="1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3200" b="0" i="1" u="none" baseline="-25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3200" b="0" i="1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3200" b="0" i="1" u="none" baseline="-25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)=</a:t>
            </a:r>
            <a:r>
              <a:rPr lang="en-US" sz="3200" b="0" i="1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3200" b="0" i="1" u="none" baseline="-25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b="1" i="1" u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Определение коэффициентов</a:t>
            </a:r>
            <a:endParaRPr b="1" i="1" dirty="0"/>
          </a:p>
        </p:txBody>
      </p:sp>
      <p:sp>
        <p:nvSpPr>
          <p:cNvPr id="414" name="Google Shape;414;p37"/>
          <p:cNvSpPr txBox="1">
            <a:spLocks noGrp="1"/>
          </p:cNvSpPr>
          <p:nvPr>
            <p:ph idx="1"/>
          </p:nvPr>
        </p:nvSpPr>
        <p:spPr>
          <a:xfrm>
            <a:off x="304800" y="1287938"/>
            <a:ext cx="8686800" cy="3469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Полагаем  в </a:t>
            </a:r>
            <a:r>
              <a:rPr lang="en-US" sz="3200" b="0" i="0" u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интерполирующ</a:t>
            </a:r>
            <a:r>
              <a:rPr lang="ru-RU" sz="3200" b="0" i="0" u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ем</a:t>
            </a:r>
            <a:r>
              <a:rPr lang="en-US" sz="3200" b="0" i="0" u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полиноме   </a:t>
            </a:r>
            <a:r>
              <a:rPr lang="en-US" sz="32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US" sz="32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3200" b="0" i="0" u="none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0 ,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тогда, т.к. второе, третье и другие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слагаемые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равны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</a:t>
            </a:r>
            <a:r>
              <a:rPr lang="en-US" sz="3200" b="0" i="1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3200" b="0" i="1" u="none" baseline="-25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32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3200" b="0" i="0" u="none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</a:t>
            </a:r>
            <a:r>
              <a:rPr lang="en-US" sz="32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3200" b="0" i="0" u="none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US" sz="32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3200" b="0" i="0" u="none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             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3200" b="0" i="0" u="none" baseline="-25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US" sz="32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3200" b="0" i="0" u="none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Найдем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коэффициент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</a:t>
            </a:r>
            <a:r>
              <a:rPr lang="en-US" sz="3200" b="1" i="0" u="none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3200" b="0" i="0" u="none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 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US" sz="32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3200" b="0" i="0" u="none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получим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dirty="0"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endParaRPr sz="32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15" name="Google Shape;415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95512" y="4681675"/>
            <a:ext cx="4683125" cy="18700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b="1" i="0" u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Определение коэффициентов</a:t>
            </a:r>
            <a:endParaRPr b="1" dirty="0"/>
          </a:p>
        </p:txBody>
      </p:sp>
      <p:sp>
        <p:nvSpPr>
          <p:cNvPr id="421" name="Google Shape;421;p38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определения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</a:t>
            </a:r>
            <a:r>
              <a:rPr lang="en-US" sz="3200" b="1" i="0" u="none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составим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конечную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разность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второго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порядка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US" sz="32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3200" b="0" i="0" u="none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 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получим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dirty="0"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endParaRPr sz="32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22" name="Google Shape;422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2262" y="3573462"/>
            <a:ext cx="8821737" cy="2159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9"/>
          <p:cNvSpPr txBox="1">
            <a:spLocks noGrp="1"/>
          </p:cNvSpPr>
          <p:nvPr>
            <p:ph type="title"/>
          </p:nvPr>
        </p:nvSpPr>
        <p:spPr>
          <a:xfrm>
            <a:off x="611187" y="333375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b="1" i="0" u="none" dirty="0" err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Построение</a:t>
            </a:r>
            <a:r>
              <a:rPr lang="en-US" b="1" i="0" u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i="0" u="none" dirty="0" err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многочлена</a:t>
            </a:r>
            <a:endParaRPr b="1" dirty="0"/>
          </a:p>
        </p:txBody>
      </p:sp>
      <p:sp>
        <p:nvSpPr>
          <p:cNvPr id="428" name="Google Shape;428;p39"/>
          <p:cNvSpPr txBox="1">
            <a:spLocks noGrp="1"/>
          </p:cNvSpPr>
          <p:nvPr>
            <p:ph idx="1"/>
          </p:nvPr>
        </p:nvSpPr>
        <p:spPr>
          <a:xfrm>
            <a:off x="395287" y="1557337"/>
            <a:ext cx="8424862" cy="5300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•"/>
            </a:pPr>
            <a:r>
              <a:rPr lang="en-US" sz="2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Аналогично</a:t>
            </a:r>
            <a:r>
              <a:rPr lang="en-US" sz="2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можно</a:t>
            </a:r>
            <a:r>
              <a:rPr lang="en-US" sz="2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найти</a:t>
            </a:r>
            <a:r>
              <a:rPr lang="en-US" sz="2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другие </a:t>
            </a:r>
            <a:r>
              <a:rPr lang="en-US" sz="2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коэффициенты</a:t>
            </a:r>
            <a:r>
              <a:rPr lang="en-US" sz="2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-US" sz="2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Общая</a:t>
            </a:r>
            <a:r>
              <a:rPr lang="en-US" sz="2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формула</a:t>
            </a:r>
            <a:r>
              <a:rPr lang="en-US" sz="2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имеет</a:t>
            </a:r>
            <a:r>
              <a:rPr lang="en-US" sz="2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вид</a:t>
            </a:r>
            <a:r>
              <a:rPr lang="en-US" sz="2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342900" marR="0" lvl="0" indent="-342900" algn="l" rtl="0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</a:pPr>
            <a:endParaRPr sz="22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</a:pPr>
            <a:r>
              <a:rPr lang="en-US" sz="2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</a:t>
            </a:r>
            <a:endParaRPr dirty="0"/>
          </a:p>
          <a:p>
            <a:pPr marL="342900" marR="0" lvl="0" indent="-203200" algn="l" rtl="0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</a:pPr>
            <a:endParaRPr sz="22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•"/>
            </a:pPr>
            <a:r>
              <a:rPr lang="en-US" sz="2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Подставляя</a:t>
            </a:r>
            <a:r>
              <a:rPr lang="en-US" sz="2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эти</a:t>
            </a:r>
            <a:r>
              <a:rPr lang="en-US" sz="2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выражения</a:t>
            </a:r>
            <a:r>
              <a:rPr lang="en-US" sz="2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в </a:t>
            </a:r>
            <a:r>
              <a:rPr lang="en-US" sz="2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формулу</a:t>
            </a:r>
            <a:r>
              <a:rPr lang="en-US" sz="2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полинома</a:t>
            </a:r>
            <a:r>
              <a:rPr lang="en-US" sz="2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</a:t>
            </a:r>
            <a:r>
              <a:rPr lang="en-US" sz="2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получаем</a:t>
            </a:r>
            <a:r>
              <a:rPr lang="en-US" sz="2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dirty="0"/>
          </a:p>
          <a:p>
            <a:pPr marL="342900" marR="0" lvl="0" indent="-342900" algn="l" rtl="0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</a:pPr>
            <a:r>
              <a:rPr lang="en-US" sz="2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</a:t>
            </a:r>
            <a:endParaRPr dirty="0"/>
          </a:p>
          <a:p>
            <a:pPr marL="342900" marR="0" lvl="0" indent="-342900" algn="l" rtl="0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</a:pPr>
            <a:endParaRPr sz="22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</a:pPr>
            <a:endParaRPr sz="22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</a:pPr>
            <a:endParaRPr sz="22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</a:pPr>
            <a:r>
              <a:rPr lang="en-US" sz="2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 </a:t>
            </a:r>
            <a:endParaRPr dirty="0"/>
          </a:p>
          <a:p>
            <a:pPr marL="342900" marR="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US" sz="1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где</a:t>
            </a:r>
            <a:r>
              <a:rPr lang="en-US" sz="1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1800" b="0" i="1" u="none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1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,</a:t>
            </a:r>
            <a:r>
              <a:rPr lang="en-US" sz="1800" b="0" i="1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1800" b="0" i="0" u="none" baseline="-25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1800" b="0" i="0" u="none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</a:t>
            </a:r>
            <a:r>
              <a:rPr lang="en-US" sz="1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узлы</a:t>
            </a:r>
            <a:r>
              <a:rPr lang="en-US" sz="1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интерполяции</a:t>
            </a:r>
            <a:r>
              <a:rPr lang="en-US" sz="1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r>
              <a:rPr lang="en-US" sz="18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1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</a:t>
            </a:r>
            <a:r>
              <a:rPr lang="en-US" sz="1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текущая</a:t>
            </a:r>
            <a:r>
              <a:rPr lang="en-US" sz="1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переменная</a:t>
            </a:r>
            <a:r>
              <a:rPr lang="en-US" sz="1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r>
              <a:rPr lang="en-US" sz="18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18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1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</a:t>
            </a:r>
            <a:r>
              <a:rPr lang="en-US" sz="1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разность</a:t>
            </a:r>
            <a:r>
              <a:rPr lang="en-US" sz="1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между</a:t>
            </a:r>
            <a:r>
              <a:rPr lang="en-US" sz="1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двумя</a:t>
            </a:r>
            <a:r>
              <a:rPr lang="en-US" sz="1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1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узлами</a:t>
            </a:r>
            <a:r>
              <a:rPr lang="en-US" sz="1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1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интерполяции</a:t>
            </a:r>
            <a:r>
              <a:rPr lang="en-US" sz="1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dirty="0"/>
          </a:p>
          <a:p>
            <a:pPr marL="342900" marR="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US" sz="18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 </a:t>
            </a:r>
            <a:r>
              <a:rPr lang="en-US" sz="1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</a:t>
            </a:r>
            <a:r>
              <a:rPr lang="en-US" sz="1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величина</a:t>
            </a:r>
            <a:r>
              <a:rPr lang="en-US" sz="1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1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постоянная</a:t>
            </a:r>
            <a:r>
              <a:rPr lang="en-US" sz="1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т.е</a:t>
            </a:r>
            <a:r>
              <a:rPr lang="en-US" sz="1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-US" sz="1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узлы</a:t>
            </a:r>
            <a:r>
              <a:rPr lang="en-US" sz="1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интерполяции</a:t>
            </a:r>
            <a:r>
              <a:rPr lang="en-US" sz="1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1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равноотстоят</a:t>
            </a:r>
            <a:r>
              <a:rPr lang="en-US" sz="1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друг</a:t>
            </a:r>
            <a:r>
              <a:rPr lang="en-US" sz="1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</a:t>
            </a:r>
            <a:r>
              <a:rPr lang="en-US" sz="1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друга</a:t>
            </a:r>
            <a:r>
              <a:rPr lang="en-US" sz="1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</p:txBody>
      </p:sp>
      <p:pic>
        <p:nvPicPr>
          <p:cNvPr id="429" name="Google Shape;429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11412" y="2226150"/>
            <a:ext cx="3240087" cy="731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47812" y="3521100"/>
            <a:ext cx="5688012" cy="141446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imes New Roman"/>
              <a:buNone/>
            </a:pPr>
            <a:r>
              <a:rPr lang="en-US" b="0" i="0" u="none" dirty="0" err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Первая</a:t>
            </a:r>
            <a:r>
              <a:rPr lang="en-US" b="0" i="0" u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0" i="0" u="none" dirty="0" err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интерполяционная</a:t>
            </a:r>
            <a:r>
              <a:rPr lang="en-US" b="0" i="0" u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0" i="0" u="none" dirty="0" err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формула</a:t>
            </a:r>
            <a:r>
              <a:rPr lang="en-US" b="0" i="0" u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0" i="0" u="none" dirty="0" err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Ньютона</a:t>
            </a:r>
            <a:endParaRPr dirty="0"/>
          </a:p>
        </p:txBody>
      </p:sp>
      <p:sp>
        <p:nvSpPr>
          <p:cNvPr id="436" name="Google Shape;436;p40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13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endParaRPr sz="32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endParaRPr sz="32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endParaRPr sz="32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3038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lang="ru-RU" sz="3200" b="0" i="0" u="none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3038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 b="0" i="0" u="none" dirty="0" err="1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Этот</a:t>
            </a:r>
            <a:r>
              <a:rPr lang="en-US" sz="3200" b="0" i="0" u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многочлен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называют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интерполяционным</a:t>
            </a:r>
            <a:r>
              <a:rPr lang="en-US" sz="32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полиномом</a:t>
            </a:r>
            <a:r>
              <a:rPr lang="en-US" sz="32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Ньютона</a:t>
            </a:r>
            <a:r>
              <a:rPr lang="en-US" sz="32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интерполяции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в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начале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таблицы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интерполирование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«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вперед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»)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или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i="1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первым</a:t>
            </a:r>
            <a:r>
              <a:rPr lang="en-US" sz="3200" b="1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1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полиномом</a:t>
            </a:r>
            <a:r>
              <a:rPr lang="en-US" sz="32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1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Ньютона</a:t>
            </a:r>
            <a:r>
              <a:rPr lang="en-US" sz="32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342900" marR="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endParaRPr sz="32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endParaRPr sz="32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37" name="Google Shape;437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03350" y="1796387"/>
            <a:ext cx="6408737" cy="187166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imes New Roman"/>
              <a:buNone/>
            </a:pPr>
            <a:r>
              <a:rPr lang="en-US" sz="40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Первая интерполяционная формула Ньютона</a:t>
            </a:r>
            <a:endParaRPr/>
          </a:p>
        </p:txBody>
      </p:sp>
      <p:sp>
        <p:nvSpPr>
          <p:cNvPr id="443" name="Google Shape;443;p41"/>
          <p:cNvSpPr txBox="1">
            <a:spLocks noGrp="1"/>
          </p:cNvSpPr>
          <p:nvPr>
            <p:ph idx="1"/>
          </p:nvPr>
        </p:nvSpPr>
        <p:spPr>
          <a:xfrm>
            <a:off x="457200" y="1774825"/>
            <a:ext cx="8507412" cy="4894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3038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практического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использования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этот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полином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записывают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в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преобразованном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виде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вводя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обозначение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lang="en-US" sz="3200" b="0" i="1" u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ru-RU" sz="3200" b="0" i="1" u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=(</a:t>
            </a:r>
            <a:r>
              <a:rPr lang="en-US" sz="32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– x</a:t>
            </a:r>
            <a:r>
              <a:rPr lang="en-US" sz="3200" b="0" i="0" u="none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)/</a:t>
            </a:r>
            <a:r>
              <a:rPr lang="en-US" sz="32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 тогда 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endParaRPr sz="32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endParaRPr sz="32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dirty="0"/>
          </a:p>
          <a:p>
            <a:pPr marL="173038" marR="0" lvl="0" indent="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Эта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i="1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формула</a:t>
            </a:r>
            <a:r>
              <a:rPr lang="en-US" sz="3200" b="1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i="1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применима</a:t>
            </a:r>
            <a:r>
              <a:rPr lang="en-US" sz="3200" b="1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вычисления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значений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функции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значений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аргументов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200" b="1" i="1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близких</a:t>
            </a:r>
            <a:r>
              <a:rPr lang="en-US" sz="3200" b="1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к </a:t>
            </a:r>
            <a:r>
              <a:rPr lang="en-US" sz="3200" b="1" i="1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началу</a:t>
            </a:r>
            <a:r>
              <a:rPr lang="en-US" sz="3200" b="1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i="1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интервала</a:t>
            </a:r>
            <a:r>
              <a:rPr lang="en-US" sz="3200" b="1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интерполирования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endParaRPr sz="32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44" name="Google Shape;444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5650" y="3573462"/>
            <a:ext cx="7777162" cy="102711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Пример</a:t>
            </a:r>
            <a:endParaRPr/>
          </a:p>
        </p:txBody>
      </p:sp>
      <p:sp>
        <p:nvSpPr>
          <p:cNvPr id="450" name="Google Shape;450;p4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303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Дана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таблица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значений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теплоёмкости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вещества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в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зависимости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температуры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3200" b="0" i="1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3200" b="0" i="1" u="none" baseline="-25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</a:t>
            </a:r>
            <a:r>
              <a:rPr lang="en-US" sz="32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32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Определить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значение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теплоёмкости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в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точке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Т=450 К,  </a:t>
            </a:r>
            <a:r>
              <a:rPr lang="en-US" sz="32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=3;     </a:t>
            </a:r>
            <a:r>
              <a:rPr lang="en-US" sz="32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=100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Таблица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   </a:t>
            </a:r>
            <a:endParaRPr dirty="0"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endParaRPr sz="32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51" name="Google Shape;451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0825" y="4365625"/>
            <a:ext cx="8683625" cy="8636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76600" y="0"/>
            <a:ext cx="1727200" cy="763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4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08175" y="5157787"/>
            <a:ext cx="1150937" cy="455612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43"/>
          <p:cNvSpPr txBox="1"/>
          <p:nvPr/>
        </p:nvSpPr>
        <p:spPr>
          <a:xfrm>
            <a:off x="107950" y="115887"/>
            <a:ext cx="32115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400"/>
              <a:buFont typeface="Times New Roman"/>
              <a:buNone/>
            </a:pPr>
            <a:r>
              <a:rPr lang="en-US" sz="2400" b="0" i="0" u="sng" dirty="0" err="1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Пример</a:t>
            </a:r>
            <a:r>
              <a:rPr lang="en-US" sz="2400" b="0" i="0" u="sng" dirty="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1. </a:t>
            </a:r>
            <a:r>
              <a:rPr lang="en-US" sz="2400" b="0" i="0" u="none" dirty="0" err="1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Функция</a:t>
            </a:r>
            <a:r>
              <a:rPr lang="en-US" sz="2400" b="0" i="0" u="none" dirty="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</p:txBody>
      </p:sp>
      <p:sp>
        <p:nvSpPr>
          <p:cNvPr id="460" name="Google Shape;460;p43"/>
          <p:cNvSpPr txBox="1"/>
          <p:nvPr/>
        </p:nvSpPr>
        <p:spPr>
          <a:xfrm>
            <a:off x="4643437" y="260350"/>
            <a:ext cx="41989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задана своими значениями </a:t>
            </a:r>
            <a:endParaRPr/>
          </a:p>
        </p:txBody>
      </p:sp>
      <p:graphicFrame>
        <p:nvGraphicFramePr>
          <p:cNvPr id="461" name="Google Shape;461;p43"/>
          <p:cNvGraphicFramePr/>
          <p:nvPr/>
        </p:nvGraphicFramePr>
        <p:xfrm>
          <a:off x="2843212" y="1125537"/>
          <a:ext cx="3095600" cy="3108980"/>
        </p:xfrm>
        <a:graphic>
          <a:graphicData uri="http://schemas.openxmlformats.org/drawingml/2006/table">
            <a:tbl>
              <a:tblPr>
                <a:noFill/>
                <a:tableStyleId>{BC499ADD-3810-4C2D-BAB0-0FF7AB36DDAE}</a:tableStyleId>
              </a:tblPr>
              <a:tblGrid>
                <a:gridCol w="1439850"/>
                <a:gridCol w="1655750"/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00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0" i="0" u="none" strike="noStrike" cap="none" dirty="0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х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00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0" i="0" u="none" strike="noStrike" cap="none" dirty="0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у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651125">
                <a:tc>
                  <a:txBody>
                    <a:bodyPr/>
                    <a:lstStyle/>
                    <a:p>
                      <a:pPr marL="0" marR="0" lvl="0" indent="3810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00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0" i="0" u="none" strike="noStrike" cap="none" dirty="0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2,0</a:t>
                      </a:r>
                      <a:endParaRPr sz="24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3810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00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0" i="0" u="none" strike="noStrike" cap="none" dirty="0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2,1</a:t>
                      </a:r>
                      <a:endParaRPr sz="24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3810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00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0" i="0" u="none" strike="noStrike" cap="none" dirty="0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2,2</a:t>
                      </a:r>
                      <a:endParaRPr sz="24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3810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00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0" i="0" u="none" strike="noStrike" cap="none" dirty="0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2,3</a:t>
                      </a:r>
                      <a:endParaRPr sz="24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3810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00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0" i="0" u="none" strike="noStrike" cap="none" dirty="0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2,4</a:t>
                      </a:r>
                      <a:endParaRPr sz="24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3810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00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0" i="0" u="none" strike="noStrike" cap="none" dirty="0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2,5</a:t>
                      </a:r>
                      <a:endParaRPr sz="24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3810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00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0" i="0" u="none" strike="noStrike" cap="none" dirty="0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2,6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3810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00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0,0540</a:t>
                      </a:r>
                      <a:endParaRPr sz="24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3810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00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0,0440</a:t>
                      </a:r>
                      <a:endParaRPr sz="24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3810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00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0,0355</a:t>
                      </a:r>
                      <a:endParaRPr sz="24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3810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00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0,0283</a:t>
                      </a:r>
                      <a:endParaRPr sz="24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3810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00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0,0224</a:t>
                      </a:r>
                      <a:endParaRPr sz="24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3810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00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0,0175</a:t>
                      </a:r>
                      <a:endParaRPr sz="24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3810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00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0,0136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462" name="Google Shape;462;p43"/>
          <p:cNvSpPr txBox="1"/>
          <p:nvPr/>
        </p:nvSpPr>
        <p:spPr>
          <a:xfrm>
            <a:off x="323850" y="4652962"/>
            <a:ext cx="8170862" cy="822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400"/>
              <a:buFont typeface="Times New Roman"/>
              <a:buNone/>
            </a:pPr>
            <a:r>
              <a:rPr lang="en-US" sz="2400" b="0" i="0" u="none" dirty="0" err="1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Применяя</a:t>
            </a:r>
            <a:r>
              <a:rPr lang="en-US" sz="2400" b="0" i="0" u="none" dirty="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dirty="0" err="1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первую</a:t>
            </a:r>
            <a:r>
              <a:rPr lang="en-US" sz="2400" b="0" i="0" u="none" dirty="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dirty="0" err="1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интерполяционную</a:t>
            </a:r>
            <a:r>
              <a:rPr lang="en-US" sz="2400" b="0" i="0" u="none" dirty="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dirty="0" err="1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формулу</a:t>
            </a:r>
            <a:r>
              <a:rPr lang="en-US" sz="2400" b="0" i="0" u="none" dirty="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dirty="0" err="1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Ньютона</a:t>
            </a:r>
            <a:r>
              <a:rPr lang="en-US" sz="2400" b="0" i="0" u="none" dirty="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endParaRPr sz="2400" b="0" i="0" u="none" dirty="0">
              <a:solidFill>
                <a:srgbClr val="8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400"/>
              <a:buFont typeface="Times New Roman"/>
              <a:buNone/>
            </a:pPr>
            <a:r>
              <a:rPr lang="en-US" sz="2400" b="0" i="0" u="none" dirty="0" err="1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найти</a:t>
            </a:r>
            <a:r>
              <a:rPr lang="en-US" sz="2400" b="0" i="0" u="none" dirty="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4"/>
          <p:cNvSpPr txBox="1"/>
          <p:nvPr/>
        </p:nvSpPr>
        <p:spPr>
          <a:xfrm>
            <a:off x="3276600" y="0"/>
            <a:ext cx="170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400"/>
              <a:buFont typeface="Times New Roman"/>
              <a:buNone/>
            </a:pPr>
            <a:r>
              <a:rPr lang="en-US" sz="2400" b="0" i="0" u="sng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Решение</a:t>
            </a:r>
            <a:endParaRPr/>
          </a:p>
        </p:txBody>
      </p:sp>
      <p:pic>
        <p:nvPicPr>
          <p:cNvPr id="469" name="Google Shape;469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1275" y="476250"/>
            <a:ext cx="504825" cy="46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19700" y="476250"/>
            <a:ext cx="504825" cy="417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4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53225" y="404812"/>
            <a:ext cx="627062" cy="538162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44"/>
          <p:cNvSpPr txBox="1"/>
          <p:nvPr/>
        </p:nvSpPr>
        <p:spPr>
          <a:xfrm>
            <a:off x="0" y="2590800"/>
            <a:ext cx="18288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3" name="Google Shape;473;p44"/>
          <p:cNvSpPr txBox="1"/>
          <p:nvPr/>
        </p:nvSpPr>
        <p:spPr>
          <a:xfrm>
            <a:off x="0" y="2590800"/>
            <a:ext cx="18288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4" name="Google Shape;474;p44"/>
          <p:cNvSpPr txBox="1"/>
          <p:nvPr/>
        </p:nvSpPr>
        <p:spPr>
          <a:xfrm>
            <a:off x="0" y="2590800"/>
            <a:ext cx="18288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75" name="Google Shape;475;p44"/>
          <p:cNvGraphicFramePr/>
          <p:nvPr/>
        </p:nvGraphicFramePr>
        <p:xfrm>
          <a:off x="900112" y="398462"/>
          <a:ext cx="7272300" cy="3108980"/>
        </p:xfrm>
        <a:graphic>
          <a:graphicData uri="http://schemas.openxmlformats.org/drawingml/2006/table">
            <a:tbl>
              <a:tblPr>
                <a:noFill/>
                <a:tableStyleId>{BC499ADD-3810-4C2D-BAB0-0FF7AB36DDAE}</a:tableStyleId>
              </a:tblPr>
              <a:tblGrid>
                <a:gridCol w="971550"/>
                <a:gridCol w="1512875"/>
                <a:gridCol w="1582725"/>
                <a:gridCol w="1512875"/>
                <a:gridCol w="1692275"/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00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0" i="0" u="none" strike="noStrike" cap="none" dirty="0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х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00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0" i="0" u="none" strike="noStrike" cap="none" dirty="0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у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651125">
                <a:tc>
                  <a:txBody>
                    <a:bodyPr/>
                    <a:lstStyle/>
                    <a:p>
                      <a:pPr marL="0" marR="0" lvl="0" indent="3810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00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0" i="0" u="none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2,0</a:t>
                      </a:r>
                      <a:endParaRPr sz="24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3810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00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0" i="0" u="none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2,1</a:t>
                      </a:r>
                      <a:endParaRPr sz="24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3810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00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1" i="0" u="none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2,2</a:t>
                      </a:r>
                      <a:endParaRPr sz="24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3810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00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0" i="0" u="none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2,3</a:t>
                      </a:r>
                      <a:endParaRPr sz="24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3810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00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0" i="0" u="none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2,4</a:t>
                      </a:r>
                      <a:endParaRPr sz="24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3810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00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0" i="0" u="none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2,5</a:t>
                      </a:r>
                      <a:endParaRPr sz="24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3810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00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0" i="0" u="none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3810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00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0" i="0" u="none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0,0540</a:t>
                      </a:r>
                      <a:endParaRPr sz="24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3810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00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0" i="0" u="none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0,0440</a:t>
                      </a:r>
                      <a:endParaRPr sz="24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3810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00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1" i="0" u="none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0,0355</a:t>
                      </a:r>
                      <a:endParaRPr sz="24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3810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00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0" i="0" u="none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0,0283</a:t>
                      </a:r>
                      <a:endParaRPr sz="24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3810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00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0" i="0" u="none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0,0224</a:t>
                      </a:r>
                      <a:endParaRPr sz="24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3810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00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0" i="0" u="none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0,0175</a:t>
                      </a:r>
                      <a:endParaRPr sz="24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3810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00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0" i="0" u="none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0,0136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3810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00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0" i="0" u="none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-0,0100</a:t>
                      </a:r>
                      <a:endParaRPr sz="24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3810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00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0" i="0" u="none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-0,0085</a:t>
                      </a:r>
                      <a:endParaRPr sz="24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3810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00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1" i="0" u="none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-0,0072</a:t>
                      </a:r>
                      <a:endParaRPr sz="24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3810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00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0" i="0" u="none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-0,0059</a:t>
                      </a:r>
                      <a:endParaRPr sz="24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3810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00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0" i="0" u="none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-0,0049</a:t>
                      </a:r>
                      <a:endParaRPr sz="24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3810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00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0" i="0" u="none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-0,0039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3810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00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0" i="0" u="none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0,0015</a:t>
                      </a:r>
                      <a:endParaRPr sz="24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3810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00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0" i="0" u="none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0,0013</a:t>
                      </a:r>
                      <a:endParaRPr sz="24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3810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00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1" i="0" u="none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0,0013</a:t>
                      </a:r>
                      <a:endParaRPr sz="24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3810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00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0" i="0" u="none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0,0010</a:t>
                      </a:r>
                      <a:endParaRPr sz="24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3810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00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0" i="0" u="none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0,0010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3810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00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0" i="0" u="none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-0,0002</a:t>
                      </a:r>
                      <a:endParaRPr sz="24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3810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00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0" i="0" u="none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3810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00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1" i="0" u="none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-0,0003</a:t>
                      </a:r>
                      <a:endParaRPr sz="24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3810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00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0" i="0" u="none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476" name="Google Shape;476;p4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39750" y="3644900"/>
            <a:ext cx="3600450" cy="84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4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450" y="4604675"/>
            <a:ext cx="9001125" cy="1849437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8229600" y="6465425"/>
            <a:ext cx="762000" cy="24447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5"/>
          <p:cNvSpPr txBox="1">
            <a:spLocks noGrp="1"/>
          </p:cNvSpPr>
          <p:nvPr>
            <p:ph type="title"/>
          </p:nvPr>
        </p:nvSpPr>
        <p:spPr>
          <a:xfrm>
            <a:off x="611187" y="333375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Times New Roman"/>
              <a:buNone/>
            </a:pPr>
            <a:r>
              <a:rPr lang="en-US" b="1" i="1" u="none" dirty="0" err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Вторая</a:t>
            </a:r>
            <a:r>
              <a:rPr lang="en-US" b="1" i="0" u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i="0" u="none" dirty="0" err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интерполяционная</a:t>
            </a:r>
            <a:r>
              <a:rPr lang="en-US" b="1" i="0" u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i="0" u="none" dirty="0" err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формула</a:t>
            </a:r>
            <a:r>
              <a:rPr lang="en-US" b="1" i="0" u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i="0" u="none" dirty="0" err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Ньютона</a:t>
            </a:r>
            <a:endParaRPr b="1" dirty="0"/>
          </a:p>
        </p:txBody>
      </p:sp>
      <p:sp>
        <p:nvSpPr>
          <p:cNvPr id="483" name="Google Shape;483;p45"/>
          <p:cNvSpPr txBox="1">
            <a:spLocks noGrp="1"/>
          </p:cNvSpPr>
          <p:nvPr>
            <p:ph idx="1"/>
          </p:nvPr>
        </p:nvSpPr>
        <p:spPr>
          <a:xfrm>
            <a:off x="457200" y="1774825"/>
            <a:ext cx="8229600" cy="4591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3038" marR="0" lvl="0" indent="5445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 b="1" i="1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Второй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интерполяционный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полином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Ньютона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применяется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нахождения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значений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функций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в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точках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расположенных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в </a:t>
            </a:r>
            <a:r>
              <a:rPr lang="en-US" sz="3200" b="1" i="1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конце</a:t>
            </a:r>
            <a:r>
              <a:rPr lang="en-US" sz="3200" b="1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i="1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интервала</a:t>
            </a:r>
            <a:r>
              <a:rPr lang="en-US" sz="3200" b="1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i="1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интерполирования</a:t>
            </a:r>
            <a:r>
              <a:rPr lang="en-US" sz="3200" b="1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173038" marR="0" lvl="0" indent="544513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Запишем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интерполяционный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многочлен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в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виде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dirty="0"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endParaRPr sz="32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84" name="Google Shape;484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0112" y="4958975"/>
            <a:ext cx="7529512" cy="113188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b="1" i="0" u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Определение коэффициентов</a:t>
            </a:r>
            <a:endParaRPr b="1" dirty="0"/>
          </a:p>
        </p:txBody>
      </p:sp>
      <p:sp>
        <p:nvSpPr>
          <p:cNvPr id="490" name="Google Shape;490;p46"/>
          <p:cNvSpPr txBox="1">
            <a:spLocks noGrp="1"/>
          </p:cNvSpPr>
          <p:nvPr>
            <p:ph idx="1"/>
          </p:nvPr>
        </p:nvSpPr>
        <p:spPr>
          <a:xfrm>
            <a:off x="304800" y="1554163"/>
            <a:ext cx="8686800" cy="3330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3038" marR="0" lvl="0" indent="5445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Коэффициенты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32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</a:t>
            </a:r>
            <a:r>
              <a:rPr lang="en-US" sz="3200" b="0" i="0" u="none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32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</a:t>
            </a:r>
            <a:r>
              <a:rPr lang="en-US" sz="3200" b="0" i="0" u="none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,..., </a:t>
            </a:r>
            <a:r>
              <a:rPr lang="en-US" sz="3200" b="0" i="1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</a:t>
            </a:r>
            <a:r>
              <a:rPr lang="en-US" sz="3200" b="0" i="1" u="none" baseline="-25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определяем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из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условия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</a:t>
            </a:r>
            <a:r>
              <a:rPr lang="en-US" sz="3200" b="0" i="1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3200" b="0" i="1" u="none" baseline="-25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200" b="0" i="0" u="none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32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3200" b="0" i="1" u="none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3200" b="0" i="0" u="none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</a:t>
            </a:r>
            <a:r>
              <a:rPr lang="en-US" sz="3200" b="0" i="1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3200" b="0" i="0" u="none" baseline="-25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-US" sz="3200" b="0" i="1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=0,...,</a:t>
            </a:r>
            <a:r>
              <a:rPr lang="en-US" sz="32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342900" marR="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endParaRPr sz="32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3038" marR="0" lvl="0" indent="185738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1.Полагаем в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интерполяционном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многочлене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32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US" sz="3200" b="0" i="1" u="none" dirty="0" err="1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3200" b="0" i="0" u="none" baseline="-25000" dirty="0" err="1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200" b="0" i="0" u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3200" b="0" i="0" u="none" baseline="-250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тогда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</a:t>
            </a:r>
            <a:endParaRPr dirty="0"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endParaRPr sz="32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91" name="Google Shape;491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16237" y="4868862"/>
            <a:ext cx="2784475" cy="18256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4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Определение коэффициентов</a:t>
            </a:r>
            <a:endParaRPr dirty="0"/>
          </a:p>
        </p:txBody>
      </p:sp>
      <p:sp>
        <p:nvSpPr>
          <p:cNvPr id="497" name="Google Shape;497;p47"/>
          <p:cNvSpPr txBox="1">
            <a:spLocks noGrp="1"/>
          </p:cNvSpPr>
          <p:nvPr>
            <p:ph idx="1"/>
          </p:nvPr>
        </p:nvSpPr>
        <p:spPr>
          <a:xfrm>
            <a:off x="179387" y="1557337"/>
            <a:ext cx="8785225" cy="3547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2.Полагаем </a:t>
            </a:r>
            <a:r>
              <a:rPr lang="en-US" sz="30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US" sz="30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3000" b="0" i="1" u="none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000" b="0" i="0" u="none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-1</a:t>
            </a:r>
            <a:r>
              <a:rPr lang="en-US" sz="3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тогда:</a:t>
            </a:r>
            <a:endParaRPr sz="3000" dirty="0"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3000" b="0" i="1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3000" b="0" i="1" u="none" baseline="-25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30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3000" b="0" i="1" u="none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000" b="0" i="0" u="none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-1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)=</a:t>
            </a:r>
            <a:r>
              <a:rPr lang="en-US" sz="30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3000" b="0" i="1" u="none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000" b="0" i="0" u="none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-1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US" sz="30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3000" b="0" i="1" u="none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US" sz="30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3000" b="0" i="0" u="none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30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3000" b="0" i="1" u="none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000" b="0" i="0" u="none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-1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</a:t>
            </a:r>
            <a:r>
              <a:rPr lang="en-US" sz="3000" b="0" i="1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3000" b="0" i="1" u="none" baseline="-25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30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          h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US" sz="3000" b="0" i="1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3000" b="0" i="0" u="none" baseline="-25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</a:t>
            </a:r>
            <a:r>
              <a:rPr lang="en-US" sz="30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3000" b="0" i="1" u="none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000" b="0" i="0" u="none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-1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, </a:t>
            </a:r>
            <a:endParaRPr sz="3000" dirty="0"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sz="3000" dirty="0"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Следовательно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3000" dirty="0"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000" b="0" i="0" u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3.Полагаем   </a:t>
            </a:r>
            <a:r>
              <a:rPr lang="en-US" sz="30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US" sz="30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3000" b="0" i="1" u="none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000" b="0" i="0" u="none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-2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,   тогда</a:t>
            </a:r>
            <a:endParaRPr sz="3000" dirty="0"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endParaRPr sz="30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98" name="Google Shape;498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19475" y="2924175"/>
            <a:ext cx="2808287" cy="90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5650" y="4358362"/>
            <a:ext cx="7272337" cy="219868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b="1" i="0" u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Определение коэффициентов</a:t>
            </a:r>
            <a:endParaRPr b="1" dirty="0"/>
          </a:p>
        </p:txBody>
      </p:sp>
      <p:sp>
        <p:nvSpPr>
          <p:cNvPr id="505" name="Google Shape;505;p48"/>
          <p:cNvSpPr txBox="1">
            <a:spLocks noGrp="1"/>
          </p:cNvSpPr>
          <p:nvPr>
            <p:ph idx="1"/>
          </p:nvPr>
        </p:nvSpPr>
        <p:spPr>
          <a:xfrm>
            <a:off x="179387" y="1557337"/>
            <a:ext cx="8785225" cy="5111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Аналогично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можно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найти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другие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коэффициенты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многочлена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dirty="0"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endParaRPr sz="32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06" name="Google Shape;506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16237" y="2924175"/>
            <a:ext cx="2225675" cy="22129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imes New Roman"/>
              <a:buNone/>
            </a:pPr>
            <a:r>
              <a:rPr lang="en-US" b="1" i="0" u="none" dirty="0" err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Вторая</a:t>
            </a:r>
            <a:r>
              <a:rPr lang="en-US" b="1" i="0" u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i="0" u="none" dirty="0" err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интерполяционная</a:t>
            </a:r>
            <a:r>
              <a:rPr lang="en-US" b="1" i="0" u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i="0" u="none" dirty="0" err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формула</a:t>
            </a:r>
            <a:r>
              <a:rPr lang="en-US" b="1" i="0" u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i="0" u="none" dirty="0" err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Ньютона</a:t>
            </a:r>
            <a:endParaRPr b="1" dirty="0"/>
          </a:p>
        </p:txBody>
      </p:sp>
      <p:sp>
        <p:nvSpPr>
          <p:cNvPr id="512" name="Google Shape;512;p49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indent="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Подставляя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эти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выражения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в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формулу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(1),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получим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1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вторую</a:t>
            </a:r>
            <a:r>
              <a:rPr lang="en-US" sz="32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1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интерполяционную</a:t>
            </a:r>
            <a:r>
              <a:rPr lang="en-US" sz="32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1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формулу</a:t>
            </a:r>
            <a:r>
              <a:rPr lang="en-US" sz="32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1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Ньютона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или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многочлен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Ньютона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интерполирования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«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назад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». </a:t>
            </a:r>
            <a:endParaRPr dirty="0"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endParaRPr sz="32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13" name="Google Shape;513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58887" y="3881437"/>
            <a:ext cx="6553200" cy="256063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5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imes New Roman"/>
              <a:buNone/>
            </a:pPr>
            <a:r>
              <a:rPr lang="en-US" sz="40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Вторая интерполяционная формула Ньютона</a:t>
            </a:r>
            <a:endParaRPr/>
          </a:p>
        </p:txBody>
      </p:sp>
      <p:sp>
        <p:nvSpPr>
          <p:cNvPr id="519" name="Google Shape;519;p50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indent="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Введем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обозначения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dirty="0"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endParaRPr sz="32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20" name="Google Shape;520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47812" y="2492375"/>
            <a:ext cx="4176712" cy="374173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5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imes New Roman"/>
              <a:buNone/>
            </a:pPr>
            <a:r>
              <a:rPr lang="en-US" sz="40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Вторая интерполяционная формула Ньютона</a:t>
            </a:r>
            <a:endParaRPr/>
          </a:p>
        </p:txBody>
      </p:sp>
      <p:sp>
        <p:nvSpPr>
          <p:cNvPr id="526" name="Google Shape;526;p51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indent="15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Произведя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замену</a:t>
            </a:r>
            <a:r>
              <a:rPr lang="en-US" sz="3200" b="0" i="0" u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получим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endParaRPr sz="32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endParaRPr sz="32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endParaRPr dirty="0"/>
          </a:p>
          <a:p>
            <a:pPr marR="0" lvl="0" indent="15875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 b="0" i="0" u="none" dirty="0" err="1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Это</a:t>
            </a:r>
            <a:r>
              <a:rPr lang="en-US" sz="3200" b="0" i="0" u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i="1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вторая</a:t>
            </a:r>
            <a:r>
              <a:rPr lang="en-US" sz="3200" b="1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i="1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формула</a:t>
            </a:r>
            <a:r>
              <a:rPr lang="en-US" sz="3200" b="1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i="1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Ньютона</a:t>
            </a:r>
            <a:r>
              <a:rPr lang="en-US" sz="3200" b="1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i="1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</a:t>
            </a:r>
            <a:r>
              <a:rPr lang="en-US" sz="3200" b="1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i="1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интерполирования</a:t>
            </a:r>
            <a:r>
              <a:rPr lang="en-US" sz="3200" b="1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«</a:t>
            </a:r>
            <a:r>
              <a:rPr lang="en-US" sz="3200" b="1" i="1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назад</a:t>
            </a:r>
            <a:r>
              <a:rPr lang="en-US" sz="3200" b="1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». </a:t>
            </a:r>
            <a:endParaRPr dirty="0"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endParaRPr sz="3200" b="1" i="1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27" name="Google Shape;527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750" y="2565400"/>
            <a:ext cx="7834312" cy="10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imes New Roman"/>
              <a:buNone/>
            </a:pPr>
            <a:r>
              <a:rPr lang="en-US" sz="40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40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0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40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0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40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0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40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0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40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0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40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5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Пример</a:t>
            </a:r>
            <a:r>
              <a:rPr lang="en-US" sz="40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40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0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40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0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40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0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40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0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40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0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40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  <p:sp>
        <p:nvSpPr>
          <p:cNvPr id="533" name="Google Shape;533;p5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3038" marR="0" lvl="0" indent="5445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Вычислить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теплоемкость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(табл.1) 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температуры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Т=550 К.</a:t>
            </a:r>
            <a:endParaRPr dirty="0"/>
          </a:p>
          <a:p>
            <a:pPr marL="173038" marR="0" lvl="0" indent="544513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Воспользуемся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второй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формулой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Ньютона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соответствующими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конечными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разностями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2)</a:t>
            </a:r>
            <a:endParaRPr dirty="0"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endParaRPr sz="32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53"/>
          <p:cNvSpPr txBox="1">
            <a:spLocks noGrp="1"/>
          </p:cNvSpPr>
          <p:nvPr>
            <p:ph type="title"/>
          </p:nvPr>
        </p:nvSpPr>
        <p:spPr>
          <a:xfrm>
            <a:off x="685800" y="308650"/>
            <a:ext cx="7772400" cy="731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Times New Roman"/>
              <a:buNone/>
            </a:pPr>
            <a:r>
              <a:rPr lang="en-US" sz="4800" b="0" i="0" u="none" dirty="0" err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Пример</a:t>
            </a:r>
            <a:endParaRPr dirty="0"/>
          </a:p>
        </p:txBody>
      </p:sp>
      <p:sp>
        <p:nvSpPr>
          <p:cNvPr id="539" name="Google Shape;539;p53"/>
          <p:cNvSpPr txBox="1">
            <a:spLocks noGrp="1"/>
          </p:cNvSpPr>
          <p:nvPr>
            <p:ph idx="1"/>
          </p:nvPr>
        </p:nvSpPr>
        <p:spPr>
          <a:xfrm>
            <a:off x="539750" y="1844675"/>
            <a:ext cx="8229600" cy="475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1524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endParaRPr sz="30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15240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endParaRPr sz="30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15240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endParaRPr sz="30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15240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endParaRPr sz="30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15240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endParaRPr sz="30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15240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endParaRPr sz="30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15240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endParaRPr sz="30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80000" marR="0" lvl="0" indent="72000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rPr lang="en-US" sz="3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Следовательно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значение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теплоемкости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температуре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550 К </a:t>
            </a:r>
            <a:r>
              <a:rPr lang="en-US" sz="3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равно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dirty="0"/>
          </a:p>
          <a:p>
            <a:pPr marL="180000" marR="0" lvl="0" indent="72000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rPr lang="en-US" sz="3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Ср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(550)=97,01 </a:t>
            </a:r>
            <a:r>
              <a:rPr lang="en-US" sz="3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Дж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/(</a:t>
            </a:r>
            <a:r>
              <a:rPr lang="en-US" sz="3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моль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К).</a:t>
            </a:r>
            <a:endParaRPr dirty="0"/>
          </a:p>
          <a:p>
            <a:pPr marL="342900" marR="0" lvl="0" indent="-1524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endParaRPr sz="30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40" name="Google Shape;540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750" y="1291112"/>
            <a:ext cx="8382000" cy="33115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54"/>
          <p:cNvSpPr txBox="1">
            <a:spLocks noGrp="1"/>
          </p:cNvSpPr>
          <p:nvPr>
            <p:ph type="title"/>
          </p:nvPr>
        </p:nvSpPr>
        <p:spPr>
          <a:xfrm>
            <a:off x="611187" y="333375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Аппроксимация функций</a:t>
            </a:r>
            <a:endParaRPr/>
          </a:p>
        </p:txBody>
      </p:sp>
      <p:sp>
        <p:nvSpPr>
          <p:cNvPr id="546" name="Google Shape;546;p54"/>
          <p:cNvSpPr txBox="1">
            <a:spLocks noGrp="1"/>
          </p:cNvSpPr>
          <p:nvPr>
            <p:ph idx="1"/>
          </p:nvPr>
        </p:nvSpPr>
        <p:spPr>
          <a:xfrm>
            <a:off x="611187" y="1557337"/>
            <a:ext cx="7772400" cy="504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3038" marR="0" lvl="0" indent="512763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Особенностью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интерполяции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являлось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то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что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интерполирующая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функция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строго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проходит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через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узловые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точки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таблицы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  т. е.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рассчитанные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значения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совпадали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с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табличными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3200" b="0" i="1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3200" b="0" i="1" u="none" baseline="-25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US" sz="32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32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3200" b="0" i="1" u="none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 </a:t>
            </a:r>
            <a:endParaRPr dirty="0"/>
          </a:p>
          <a:p>
            <a:pPr marL="173038" marR="0" lvl="0" indent="512763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Эта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особенность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обуславливалась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тем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что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количество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коэффициентов в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интерполирующей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функции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32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было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равно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количеству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табличных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значений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32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5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Особенности аппроксимации</a:t>
            </a:r>
            <a:endParaRPr/>
          </a:p>
        </p:txBody>
      </p:sp>
      <p:sp>
        <p:nvSpPr>
          <p:cNvPr id="552" name="Google Shape;552;p55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0000" marR="0" lvl="0" indent="720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</a:pPr>
            <a:r>
              <a:rPr lang="en-US" sz="3300" b="0" i="0" u="none" dirty="0" err="1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Если</a:t>
            </a:r>
            <a:r>
              <a:rPr lang="en-US" sz="3300" b="0" i="0" u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00" b="0" i="0" u="none" dirty="0" err="1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</a:t>
            </a:r>
            <a:r>
              <a:rPr lang="en-US" sz="3300" b="0" i="0" u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описания</a:t>
            </a:r>
            <a:r>
              <a:rPr lang="en-US" sz="33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табличных</a:t>
            </a:r>
            <a:r>
              <a:rPr lang="en-US" sz="33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данных</a:t>
            </a:r>
            <a:r>
              <a:rPr lang="en-US" sz="33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будет</a:t>
            </a:r>
            <a:r>
              <a:rPr lang="en-US" sz="33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выбрана</a:t>
            </a:r>
            <a:r>
              <a:rPr lang="en-US" sz="33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функция</a:t>
            </a:r>
            <a:r>
              <a:rPr lang="en-US" sz="33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с </a:t>
            </a:r>
            <a:r>
              <a:rPr lang="en-US" sz="33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меньшим</a:t>
            </a:r>
            <a:r>
              <a:rPr lang="en-US" sz="33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количеством</a:t>
            </a:r>
            <a:r>
              <a:rPr lang="en-US" sz="33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коэффициентов (</a:t>
            </a:r>
            <a:r>
              <a:rPr lang="en-US" sz="33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m&lt;n</a:t>
            </a:r>
            <a:r>
              <a:rPr lang="en-US" sz="33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 </a:t>
            </a:r>
            <a:r>
              <a:rPr lang="en-US" sz="33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что</a:t>
            </a:r>
            <a:r>
              <a:rPr lang="en-US" sz="33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часто</a:t>
            </a:r>
            <a:r>
              <a:rPr lang="en-US" sz="33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встречается</a:t>
            </a:r>
            <a:r>
              <a:rPr lang="en-US" sz="33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</a:t>
            </a:r>
            <a:r>
              <a:rPr lang="en-US" sz="33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практике</a:t>
            </a:r>
            <a:r>
              <a:rPr lang="en-US" sz="33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3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то</a:t>
            </a:r>
            <a:r>
              <a:rPr lang="en-US" sz="33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уже</a:t>
            </a:r>
            <a:r>
              <a:rPr lang="en-US" sz="33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нельзя</a:t>
            </a:r>
            <a:r>
              <a:rPr lang="en-US" sz="33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подобрать</a:t>
            </a:r>
            <a:r>
              <a:rPr lang="en-US" sz="33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коэффициенты</a:t>
            </a:r>
            <a:r>
              <a:rPr lang="en-US" sz="33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функции</a:t>
            </a:r>
            <a:r>
              <a:rPr lang="en-US" sz="33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так</a:t>
            </a:r>
            <a:r>
              <a:rPr lang="en-US" sz="33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3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чтобы</a:t>
            </a:r>
            <a:r>
              <a:rPr lang="en-US" sz="33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функция</a:t>
            </a:r>
            <a:r>
              <a:rPr lang="en-US" sz="33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проходила</a:t>
            </a:r>
            <a:r>
              <a:rPr lang="en-US" sz="33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через</a:t>
            </a:r>
            <a:r>
              <a:rPr lang="en-US" sz="33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каждую</a:t>
            </a:r>
            <a:r>
              <a:rPr lang="en-US" sz="33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узловую</a:t>
            </a:r>
            <a:r>
              <a:rPr lang="en-US" sz="33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точку</a:t>
            </a:r>
            <a:r>
              <a:rPr lang="en-US" sz="33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5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Особенности аппроксимации</a:t>
            </a:r>
            <a:endParaRPr/>
          </a:p>
        </p:txBody>
      </p:sp>
      <p:sp>
        <p:nvSpPr>
          <p:cNvPr id="558" name="Google Shape;558;p56"/>
          <p:cNvSpPr txBox="1">
            <a:spLocks noGrp="1"/>
          </p:cNvSpPr>
          <p:nvPr>
            <p:ph idx="1"/>
          </p:nvPr>
        </p:nvSpPr>
        <p:spPr>
          <a:xfrm>
            <a:off x="179387" y="1484312"/>
            <a:ext cx="8964612" cy="51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Times New Roman"/>
              <a:buNone/>
            </a:pPr>
            <a:r>
              <a:rPr lang="en-US" sz="29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</a:t>
            </a:r>
            <a:r>
              <a:rPr lang="en-US" sz="29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лучшем</a:t>
            </a:r>
            <a:r>
              <a:rPr lang="en-US" sz="29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9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случае</a:t>
            </a:r>
            <a:r>
              <a:rPr lang="en-US" sz="29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9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она</a:t>
            </a:r>
            <a:r>
              <a:rPr lang="en-US" sz="29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9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будет</a:t>
            </a:r>
            <a:r>
              <a:rPr lang="en-US" sz="29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9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проходить</a:t>
            </a:r>
            <a:r>
              <a:rPr lang="en-US" sz="29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9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каким</a:t>
            </a:r>
            <a:r>
              <a:rPr lang="en-US" sz="29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</a:t>
            </a:r>
            <a:r>
              <a:rPr lang="en-US" sz="29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либо</a:t>
            </a:r>
            <a:r>
              <a:rPr lang="en-US" sz="29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9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образом</a:t>
            </a:r>
            <a:r>
              <a:rPr lang="en-US" sz="29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9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между</a:t>
            </a:r>
            <a:r>
              <a:rPr lang="en-US" sz="29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9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ними</a:t>
            </a:r>
            <a:r>
              <a:rPr lang="en-US" sz="29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 </a:t>
            </a:r>
            <a:r>
              <a:rPr lang="en-US" sz="29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очень</a:t>
            </a:r>
            <a:r>
              <a:rPr lang="en-US" sz="29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9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близко</a:t>
            </a:r>
            <a:r>
              <a:rPr lang="en-US" sz="29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к </a:t>
            </a:r>
            <a:r>
              <a:rPr lang="en-US" sz="29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ним</a:t>
            </a:r>
            <a:r>
              <a:rPr lang="en-US" sz="29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29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</a:t>
            </a:r>
            <a:r>
              <a:rPr lang="en-US" sz="29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1).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endParaRPr sz="26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endParaRPr sz="26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endParaRPr sz="26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endParaRPr sz="26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endParaRPr sz="26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endParaRPr sz="26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endParaRPr sz="26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84150" algn="l" rtl="0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</a:pPr>
            <a:r>
              <a:rPr lang="en-US" sz="29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Такой</a:t>
            </a:r>
            <a:r>
              <a:rPr lang="en-US" sz="29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9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способ</a:t>
            </a:r>
            <a:r>
              <a:rPr lang="en-US" sz="29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9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описания</a:t>
            </a:r>
            <a:r>
              <a:rPr lang="en-US" sz="29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9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табличных</a:t>
            </a:r>
            <a:r>
              <a:rPr lang="en-US" sz="29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9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данных</a:t>
            </a:r>
            <a:r>
              <a:rPr lang="en-US" sz="29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9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называется</a:t>
            </a:r>
            <a:r>
              <a:rPr lang="en-US" sz="29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900" b="1" i="1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аппроксимацией</a:t>
            </a:r>
            <a:r>
              <a:rPr lang="en-US" sz="29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а </a:t>
            </a:r>
            <a:r>
              <a:rPr lang="en-US" sz="29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функция</a:t>
            </a:r>
            <a:r>
              <a:rPr lang="en-US" sz="29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</a:t>
            </a:r>
            <a:r>
              <a:rPr lang="en-US" sz="2900" b="1" i="1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аппроксимирующей</a:t>
            </a:r>
            <a:r>
              <a:rPr lang="en-US" sz="2900" b="1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</p:txBody>
      </p:sp>
      <p:pic>
        <p:nvPicPr>
          <p:cNvPr id="559" name="Google Shape;559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39975" y="2492375"/>
            <a:ext cx="4464050" cy="312896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57"/>
          <p:cNvSpPr txBox="1">
            <a:spLocks noGrp="1"/>
          </p:cNvSpPr>
          <p:nvPr>
            <p:ph type="title"/>
          </p:nvPr>
        </p:nvSpPr>
        <p:spPr>
          <a:xfrm>
            <a:off x="755650" y="26035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Times New Roman"/>
              <a:buNone/>
            </a:pPr>
            <a:r>
              <a:rPr lang="en-US" sz="4000" b="0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Условия применения аппроксимации</a:t>
            </a:r>
            <a:endParaRPr/>
          </a:p>
        </p:txBody>
      </p:sp>
      <p:sp>
        <p:nvSpPr>
          <p:cNvPr id="565" name="Google Shape;565;p57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1825" marR="0" lvl="0" indent="-5143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AutoNum type="arabicPeriod"/>
            </a:pP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Когда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количество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табличных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значений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очень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велико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В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этом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случае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интерполирующая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функция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будет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очень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громоздкой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Удобнее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выбрать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более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простую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в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применении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функцию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с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небольшим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количеством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коэффициентов,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хотя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менее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точную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endParaRPr sz="32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5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imes New Roman"/>
              <a:buNone/>
            </a:pPr>
            <a:r>
              <a:rPr lang="en-US" sz="40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Условия применения аппроксимации</a:t>
            </a:r>
            <a:endParaRPr/>
          </a:p>
        </p:txBody>
      </p:sp>
      <p:sp>
        <p:nvSpPr>
          <p:cNvPr id="571" name="Google Shape;571;p58"/>
          <p:cNvSpPr txBox="1">
            <a:spLocks noGrp="1"/>
          </p:cNvSpPr>
          <p:nvPr>
            <p:ph idx="1"/>
          </p:nvPr>
        </p:nvSpPr>
        <p:spPr>
          <a:xfrm>
            <a:off x="179387" y="1557337"/>
            <a:ext cx="8713787" cy="5111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1825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endParaRPr sz="32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31825" marR="0" lvl="0" indent="-3111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endParaRPr sz="32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31825" marR="0" lvl="0" indent="-51435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AutoNum type="arabicPeriod" startAt="2"/>
            </a:pP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Когда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вид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функции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заранее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определен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Такая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ситуация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возникает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если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требуется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описать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экспериментальные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точки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какой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либо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теоретической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зависимостью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dirty="0"/>
          </a:p>
          <a:p>
            <a:pPr marL="631825" marR="0" lvl="0" indent="-3111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endParaRPr sz="32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endParaRPr sz="32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59"/>
          <p:cNvSpPr txBox="1">
            <a:spLocks noGrp="1"/>
          </p:cNvSpPr>
          <p:nvPr>
            <p:ph type="title"/>
          </p:nvPr>
        </p:nvSpPr>
        <p:spPr>
          <a:xfrm>
            <a:off x="684212" y="333375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Times New Roman"/>
              <a:buNone/>
            </a:pPr>
            <a:r>
              <a:rPr lang="en-US" sz="4000" b="0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Условия применения аппроксимации</a:t>
            </a:r>
            <a:endParaRPr/>
          </a:p>
        </p:txBody>
      </p:sp>
      <p:sp>
        <p:nvSpPr>
          <p:cNvPr id="577" name="Google Shape;577;p59"/>
          <p:cNvSpPr txBox="1">
            <a:spLocks noGrp="1"/>
          </p:cNvSpPr>
          <p:nvPr>
            <p:ph idx="1"/>
          </p:nvPr>
        </p:nvSpPr>
        <p:spPr>
          <a:xfrm>
            <a:off x="250825" y="1628775"/>
            <a:ext cx="8642350" cy="504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1825" marR="0" lvl="0" indent="-5143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AutoNum type="arabicPeriod" startAt="3"/>
            </a:pPr>
            <a:r>
              <a:rPr lang="en-US" sz="2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Аппроксимирующая</a:t>
            </a: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функция</a:t>
            </a: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может</a:t>
            </a: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сглаживать</a:t>
            </a: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погрешности</a:t>
            </a: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эксперимента</a:t>
            </a: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в </a:t>
            </a:r>
            <a:r>
              <a:rPr lang="en-US" sz="2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отличие</a:t>
            </a: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</a:t>
            </a: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интерполирующей</a:t>
            </a: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функции</a:t>
            </a: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dirty="0"/>
          </a:p>
          <a:p>
            <a:pPr marL="173038" marR="0" lvl="0" indent="0" algn="just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Так</a:t>
            </a: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</a:t>
            </a: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рис.2 </a:t>
            </a:r>
            <a:r>
              <a:rPr lang="en-US" sz="2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точками</a:t>
            </a: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показаны</a:t>
            </a: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табличные</a:t>
            </a: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данные</a:t>
            </a: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</a:t>
            </a:r>
            <a:r>
              <a:rPr lang="en-US" sz="2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результат</a:t>
            </a: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некоторого</a:t>
            </a: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эксперимента</a:t>
            </a: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-US" sz="2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Разброс</a:t>
            </a: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данных</a:t>
            </a: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объясняется</a:t>
            </a: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погрешностью</a:t>
            </a: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эксперимента</a:t>
            </a: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dirty="0"/>
          </a:p>
          <a:p>
            <a: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endParaRPr sz="28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78" name="Google Shape;578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91500" y="4489525"/>
            <a:ext cx="3419475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60"/>
          <p:cNvSpPr txBox="1">
            <a:spLocks noGrp="1"/>
          </p:cNvSpPr>
          <p:nvPr>
            <p:ph type="title"/>
          </p:nvPr>
        </p:nvSpPr>
        <p:spPr>
          <a:xfrm>
            <a:off x="684212" y="333375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Times New Roman"/>
              <a:buNone/>
            </a:pPr>
            <a:r>
              <a:rPr lang="en-US" sz="4000" b="0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Условия применения аппроксимации</a:t>
            </a:r>
            <a:endParaRPr/>
          </a:p>
        </p:txBody>
      </p:sp>
      <p:sp>
        <p:nvSpPr>
          <p:cNvPr id="584" name="Google Shape;584;p60"/>
          <p:cNvSpPr txBox="1">
            <a:spLocks noGrp="1"/>
          </p:cNvSpPr>
          <p:nvPr>
            <p:ph idx="1"/>
          </p:nvPr>
        </p:nvSpPr>
        <p:spPr>
          <a:xfrm>
            <a:off x="179387" y="1406862"/>
            <a:ext cx="8713787" cy="2951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3038" marR="0" lvl="0" indent="544513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b="0" i="0" u="none" dirty="0" err="1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Интерполирующая</a:t>
            </a:r>
            <a:r>
              <a:rPr lang="en-US" sz="2800" b="0" i="0" u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dirty="0" err="1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функция</a:t>
            </a: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проходя</a:t>
            </a: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через</a:t>
            </a: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каждую</a:t>
            </a: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точку</a:t>
            </a: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будет</a:t>
            </a: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повторять</a:t>
            </a: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ошибки</a:t>
            </a: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эксперимента</a:t>
            </a: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иметь</a:t>
            </a: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множество</a:t>
            </a: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экстремумов</a:t>
            </a: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минимумов</a:t>
            </a: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 </a:t>
            </a:r>
            <a:r>
              <a:rPr lang="en-US" sz="2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максимумов</a:t>
            </a: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и в </a:t>
            </a:r>
            <a:r>
              <a:rPr lang="en-US" sz="2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целом</a:t>
            </a: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неверно</a:t>
            </a: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отображать</a:t>
            </a: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характер</a:t>
            </a: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зависимости</a:t>
            </a: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</a:t>
            </a: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-US" sz="2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Этого</a:t>
            </a: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недостатка</a:t>
            </a: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лишена</a:t>
            </a: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аппроксимирующая</a:t>
            </a: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функция</a:t>
            </a: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endParaRPr sz="28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85" name="Google Shape;585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87675" y="4035437"/>
            <a:ext cx="4008437" cy="254476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61"/>
          <p:cNvSpPr txBox="1">
            <a:spLocks noGrp="1"/>
          </p:cNvSpPr>
          <p:nvPr>
            <p:ph type="title"/>
          </p:nvPr>
        </p:nvSpPr>
        <p:spPr>
          <a:xfrm>
            <a:off x="611187" y="333375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Times New Roman"/>
              <a:buNone/>
            </a:pPr>
            <a:r>
              <a:rPr lang="en-US" sz="4000" b="0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Условия применения аппроксимации</a:t>
            </a:r>
            <a:endParaRPr/>
          </a:p>
        </p:txBody>
      </p:sp>
      <p:sp>
        <p:nvSpPr>
          <p:cNvPr id="591" name="Google Shape;591;p61"/>
          <p:cNvSpPr txBox="1">
            <a:spLocks noGrp="1"/>
          </p:cNvSpPr>
          <p:nvPr>
            <p:ph idx="1"/>
          </p:nvPr>
        </p:nvSpPr>
        <p:spPr>
          <a:xfrm>
            <a:off x="179387" y="1628775"/>
            <a:ext cx="8785225" cy="504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1825" marR="0" lvl="0" indent="-51435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AutoNum type="arabicPeriod" startAt="4"/>
            </a:pP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Интерполирующей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функцией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невозможно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описать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табличные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данные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в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которых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есть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несколько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точек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с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одинаковым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значением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аргумента</a:t>
            </a:r>
            <a:r>
              <a:rPr lang="en-US" sz="3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631825" marR="0" lvl="0" indent="-51435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endParaRPr sz="30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3038" marR="0" lvl="0" indent="544513" algn="just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Такая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ситуация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возможна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если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один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 </a:t>
            </a:r>
            <a:r>
              <a:rPr lang="en-US" sz="3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тот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же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эксперимент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проводится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несколько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одних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 </a:t>
            </a:r>
            <a:r>
              <a:rPr lang="en-US" sz="3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тех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же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исходных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данных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-US" sz="3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Однако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это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не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является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ограничением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использования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аппроксимации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где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не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ставится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условие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прохождения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графика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функции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через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каждую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точку</a:t>
            </a:r>
            <a:r>
              <a:rPr lang="en-US" sz="3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342900" marR="0" lvl="0" indent="-1524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endParaRPr sz="30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Трек">
  <a:themeElements>
    <a:clrScheme name="Трек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Трек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Трек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34</TotalTime>
  <Words>1314</Words>
  <Application>Microsoft Office PowerPoint</Application>
  <PresentationFormat>Экран (4:3)</PresentationFormat>
  <Paragraphs>344</Paragraphs>
  <Slides>48</Slides>
  <Notes>48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48</vt:i4>
      </vt:variant>
    </vt:vector>
  </HeadingPairs>
  <TitlesOfParts>
    <vt:vector size="49" baseType="lpstr">
      <vt:lpstr>Трек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  <vt:lpstr>Понятие конечных разностей</vt:lpstr>
      <vt:lpstr>Понятие конечных разностей</vt:lpstr>
      <vt:lpstr>Понятие конечных разностей</vt:lpstr>
      <vt:lpstr>Диагональная таблица</vt:lpstr>
      <vt:lpstr>Горизонтальная таблица</vt:lpstr>
      <vt:lpstr>Слайд 21</vt:lpstr>
      <vt:lpstr>Первая интерполяционная формула Ньютона</vt:lpstr>
      <vt:lpstr>Слайд 23</vt:lpstr>
      <vt:lpstr>Определение коэффициентов</vt:lpstr>
      <vt:lpstr>Определение коэффициентов</vt:lpstr>
      <vt:lpstr>Построение многочлена</vt:lpstr>
      <vt:lpstr>Первая интерполяционная формула Ньютона</vt:lpstr>
      <vt:lpstr>Первая интерполяционная формула Ньютона</vt:lpstr>
      <vt:lpstr>Пример</vt:lpstr>
      <vt:lpstr>Слайд 30</vt:lpstr>
      <vt:lpstr>Слайд 31</vt:lpstr>
      <vt:lpstr>Вторая интерполяционная формула Ньютона</vt:lpstr>
      <vt:lpstr>Определение коэффициентов</vt:lpstr>
      <vt:lpstr>Определение коэффициентов</vt:lpstr>
      <vt:lpstr>Определение коэффициентов</vt:lpstr>
      <vt:lpstr>Вторая интерполяционная формула Ньютона</vt:lpstr>
      <vt:lpstr>Вторая интерполяционная формула Ньютона</vt:lpstr>
      <vt:lpstr>Вторая интерполяционная формула Ньютона</vt:lpstr>
      <vt:lpstr>      Пример      </vt:lpstr>
      <vt:lpstr>Пример</vt:lpstr>
      <vt:lpstr>Аппроксимация функций</vt:lpstr>
      <vt:lpstr>Особенности аппроксимации</vt:lpstr>
      <vt:lpstr>Особенности аппроксимации</vt:lpstr>
      <vt:lpstr>Условия применения аппроксимации</vt:lpstr>
      <vt:lpstr>Условия применения аппроксимации</vt:lpstr>
      <vt:lpstr>Условия применения аппроксимации</vt:lpstr>
      <vt:lpstr>Условия применения аппроксимации</vt:lpstr>
      <vt:lpstr>Условия применения аппроксимации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Любовь</dc:creator>
  <cp:lastModifiedBy>Любовь</cp:lastModifiedBy>
  <cp:revision>5</cp:revision>
  <dcterms:modified xsi:type="dcterms:W3CDTF">2023-03-14T21:27:03Z</dcterms:modified>
</cp:coreProperties>
</file>